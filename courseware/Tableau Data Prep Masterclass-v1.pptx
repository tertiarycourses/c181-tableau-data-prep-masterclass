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4" r:id="rId15"/>
    <p:sldId id="267" r:id="rId18"/>
    <p:sldId id="268" r:id="rId19"/>
    <p:sldId id="270" r:id="rId21"/>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20" r:id="rId171"/>
    <p:sldId id="418" r:id="rId169"/>
    <p:sldId id="419" r:id="rId17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8" Type="http://schemas.openxmlformats.org/officeDocument/2006/relationships/slide" Target="slides/slide12.xml"/><Relationship Id="rId19" Type="http://schemas.openxmlformats.org/officeDocument/2006/relationships/slide" Target="slides/slide13.xml"/><Relationship Id="rId21" Type="http://schemas.openxmlformats.org/officeDocument/2006/relationships/slide" Target="slides/slide15.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Weight</c:v>
                </c:pt>
              </c:strCache>
            </c:strRef>
          </c:tx>
          <c:dPt>
            <c:idx val="0"/>
            <c:spPr>
              <a:solidFill>
                <a:srgbClr val="1F6FEB"/>
              </a:solidFill>
            </c:spPr>
          </c:dPt>
          <c:dPt>
            <c:idx val="1"/>
            <c:spPr>
              <a:solidFill>
                <a:srgbClr val="10B981"/>
              </a:solidFill>
            </c:spPr>
          </c:dPt>
          <c:dPt>
            <c:idx val="2"/>
            <c:spPr>
              <a:solidFill>
                <a:srgbClr val="7C3AED"/>
              </a:solidFill>
            </c:spPr>
          </c:dPt>
          <c:dPt>
            <c:idx val="3"/>
            <c:spPr>
              <a:solidFill>
                <a:srgbClr val="F59E0B"/>
              </a:solidFill>
            </c:spPr>
          </c:dPt>
          <c:cat>
            <c:strRef>
              <c:f>Sheet1!$A$2:$A$5</c:f>
              <c:strCache>
                <c:ptCount val="4"/>
                <c:pt idx="0">
                  <c:v>Connect &amp; Prepare</c:v>
                </c:pt>
                <c:pt idx="1">
                  <c:v>Explore &amp; Analyse</c:v>
                </c:pt>
                <c:pt idx="2">
                  <c:v>Share Insights</c:v>
                </c:pt>
                <c:pt idx="3">
                  <c:v>Concepts</c:v>
                </c:pt>
              </c:strCache>
            </c:strRef>
          </c:cat>
          <c:val>
            <c:numRef>
              <c:f>Sheet1!$B$2:$B$5</c:f>
              <c:numCache>
                <c:formatCode>General</c:formatCode>
                <c:ptCount val="4"/>
                <c:pt idx="0">
                  <c:v>23</c:v>
                </c:pt>
                <c:pt idx="1">
                  <c:v>37</c:v>
                </c:pt>
                <c:pt idx="2">
                  <c:v>25</c:v>
                </c:pt>
                <c:pt idx="3">
                  <c:v>15</c:v>
                </c:pt>
              </c:numCache>
            </c:numRef>
          </c:val>
        </c:ser>
        <c:dLbls>
          <c:txPr>
            <a:bodyPr/>
            <a:lstStyle/>
            <a:p>
              <a:pPr>
                <a:defRPr sz="1200">
                  <a:latin typeface="Arial"/>
                </a:defRPr>
              </a:pPr>
            </a:p>
          </c:txPr>
          <c:dLblPos val="bestFit"/>
          <c:showLegendKey val="0"/>
          <c:showVal val="0"/>
          <c:showCatName val="0"/>
          <c:showSerName val="0"/>
          <c:showPercent val="1"/>
          <c:showBubbleSize val="0"/>
          <c:showLeaderLines val="1"/>
        </c:dLbls>
        <c:firstSliceAng val="0"/>
        <c:holeSize val="50"/>
      </c:doughnutChart>
    </c:plotArea>
    <c:legend>
      <c:legendPos val="b"/>
      <c:layout/>
      <c:overlay val="0"/>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Live</c:v>
                </c:pt>
              </c:strCache>
            </c:strRef>
          </c:tx>
          <c:spPr>
            <a:solidFill>
              <a:srgbClr val="1F6FEB"/>
            </a:solidFill>
          </c:spPr>
          <c:cat>
            <c:strRef>
              <c:f>Sheet1!$A$2:$A$4</c:f>
              <c:strCache>
                <c:ptCount val="3"/>
                <c:pt idx="0">
                  <c:v>Small local</c:v>
                </c:pt>
                <c:pt idx="1">
                  <c:v>Network database</c:v>
                </c:pt>
                <c:pt idx="2">
                  <c:v>Repeated dashboard</c:v>
                </c:pt>
              </c:strCache>
            </c:strRef>
          </c:cat>
          <c:val>
            <c:numRef>
              <c:f>Sheet1!$B$2:$B$4</c:f>
              <c:numCache>
                <c:formatCode>General</c:formatCode>
                <c:ptCount val="3"/>
                <c:pt idx="0">
                  <c:v>1.2</c:v>
                </c:pt>
                <c:pt idx="1">
                  <c:v>4.8</c:v>
                </c:pt>
                <c:pt idx="2">
                  <c:v>3.6</c:v>
                </c:pt>
              </c:numCache>
            </c:numRef>
          </c:val>
        </c:ser>
        <c:ser>
          <c:idx val="1"/>
          <c:order val="1"/>
          <c:tx>
            <c:strRef>
              <c:f>Sheet1!$C$1</c:f>
              <c:strCache>
                <c:ptCount val="1"/>
                <c:pt idx="0">
                  <c:v>Extract</c:v>
                </c:pt>
              </c:strCache>
            </c:strRef>
          </c:tx>
          <c:spPr>
            <a:solidFill>
              <a:srgbClr val="10B981"/>
            </a:solidFill>
          </c:spPr>
          <c:cat>
            <c:strRef>
              <c:f>Sheet1!$A$2:$A$4</c:f>
              <c:strCache>
                <c:ptCount val="3"/>
                <c:pt idx="0">
                  <c:v>Small local</c:v>
                </c:pt>
                <c:pt idx="1">
                  <c:v>Network database</c:v>
                </c:pt>
                <c:pt idx="2">
                  <c:v>Repeated dashboard</c:v>
                </c:pt>
              </c:strCache>
            </c:strRef>
          </c:cat>
          <c:val>
            <c:numRef>
              <c:f>Sheet1!$C$2:$C$4</c:f>
              <c:numCache>
                <c:formatCode>General</c:formatCode>
                <c:ptCount val="3"/>
                <c:pt idx="0">
                  <c:v>0.9</c:v>
                </c:pt>
                <c:pt idx="1">
                  <c:v>1.1</c:v>
                </c:pt>
                <c:pt idx="2">
                  <c:v>0.8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Sales</c:v>
                </c:pt>
              </c:strCache>
            </c:strRef>
          </c:tx>
          <c:spPr>
            <a:solidFill>
              <a:srgbClr val="1F6FEB"/>
            </a:solidFill>
            <a:ln>
              <a:solidFill>
                <a:srgbClr val="1F6FEB"/>
              </a:solidFill>
            </a:ln>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420</c:v>
                </c:pt>
                <c:pt idx="1">
                  <c:v>460</c:v>
                </c:pt>
                <c:pt idx="2">
                  <c:v>510</c:v>
                </c:pt>
                <c:pt idx="3">
                  <c:v>485</c:v>
                </c:pt>
                <c:pt idx="4">
                  <c:v>560</c:v>
                </c:pt>
                <c:pt idx="5">
                  <c:v>610</c:v>
                </c:pt>
              </c:numCache>
            </c:numRef>
          </c:val>
          <c:smooth val="0"/>
        </c:ser>
        <c:ser>
          <c:idx val="1"/>
          <c:order val="1"/>
          <c:tx>
            <c:strRef>
              <c:f>Sheet1!$C$1</c:f>
              <c:strCache>
                <c:ptCount val="1"/>
                <c:pt idx="0">
                  <c:v>Profit</c:v>
                </c:pt>
              </c:strCache>
            </c:strRef>
          </c:tx>
          <c:spPr>
            <a:solidFill>
              <a:srgbClr val="10B981"/>
            </a:solidFill>
            <a:ln>
              <a:solidFill>
                <a:srgbClr val="10B981"/>
              </a:solidFill>
            </a:ln>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86</c:v>
                </c:pt>
                <c:pt idx="1">
                  <c:v>92</c:v>
                </c:pt>
                <c:pt idx="2">
                  <c:v>112</c:v>
                </c:pt>
                <c:pt idx="3">
                  <c:v>98</c:v>
                </c:pt>
                <c:pt idx="4">
                  <c:v>126</c:v>
                </c:pt>
                <c:pt idx="5">
                  <c:v>141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latin typeface="Arial"/>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txPr>
          <a:bodyPr/>
          <a:lstStyle/>
          <a:p>
            <a:pPr>
              <a:defRPr sz="10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Open tickets</c:v>
                </c:pt>
              </c:strCache>
            </c:strRef>
          </c:tx>
          <c:spPr>
            <a:solidFill>
              <a:srgbClr val="1F6FEB"/>
            </a:solidFill>
          </c:spPr>
          <c:cat>
            <c:strRef>
              <c:f>Sheet1!$A$2:$A$5</c:f>
              <c:strCache>
                <c:ptCount val="4"/>
                <c:pt idx="0">
                  <c:v>Critical</c:v>
                </c:pt>
                <c:pt idx="1">
                  <c:v>High</c:v>
                </c:pt>
                <c:pt idx="2">
                  <c:v>Medium</c:v>
                </c:pt>
                <c:pt idx="3">
                  <c:v>Low</c:v>
                </c:pt>
              </c:strCache>
            </c:strRef>
          </c:cat>
          <c:val>
            <c:numRef>
              <c:f>Sheet1!$B$2:$B$5</c:f>
              <c:numCache>
                <c:formatCode>General</c:formatCode>
                <c:ptCount val="4"/>
                <c:pt idx="0">
                  <c:v>46</c:v>
                </c:pt>
                <c:pt idx="1">
                  <c:v>132</c:v>
                </c:pt>
                <c:pt idx="2">
                  <c:v>285</c:v>
                </c:pt>
                <c:pt idx="3">
                  <c:v>204</c:v>
                </c:pt>
              </c:numCache>
            </c:numRef>
          </c:val>
        </c:ser>
        <c:ser>
          <c:idx val="1"/>
          <c:order val="1"/>
          <c:tx>
            <c:strRef>
              <c:f>Sheet1!$C$1</c:f>
              <c:strCache>
                <c:ptCount val="1"/>
                <c:pt idx="0">
                  <c:v>SLA breaches</c:v>
                </c:pt>
              </c:strCache>
            </c:strRef>
          </c:tx>
          <c:spPr>
            <a:solidFill>
              <a:srgbClr val="10B981"/>
            </a:solidFill>
          </c:spPr>
          <c:cat>
            <c:strRef>
              <c:f>Sheet1!$A$2:$A$5</c:f>
              <c:strCache>
                <c:ptCount val="4"/>
                <c:pt idx="0">
                  <c:v>Critical</c:v>
                </c:pt>
                <c:pt idx="1">
                  <c:v>High</c:v>
                </c:pt>
                <c:pt idx="2">
                  <c:v>Medium</c:v>
                </c:pt>
                <c:pt idx="3">
                  <c:v>Low</c:v>
                </c:pt>
              </c:strCache>
            </c:strRef>
          </c:cat>
          <c:val>
            <c:numRef>
              <c:f>Sheet1!$C$2:$C$5</c:f>
              <c:numCache>
                <c:formatCode>General</c:formatCode>
                <c:ptCount val="4"/>
                <c:pt idx="0">
                  <c:v>19</c:v>
                </c:pt>
                <c:pt idx="1">
                  <c:v>38</c:v>
                </c:pt>
                <c:pt idx="2">
                  <c:v>27</c:v>
                </c:pt>
                <c:pt idx="3">
                  <c:v>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10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Number of marks</c:v>
                </c:pt>
              </c:strCache>
            </c:strRef>
          </c:tx>
          <c:spPr>
            <a:solidFill>
              <a:srgbClr val="1F6FEB"/>
            </a:solidFill>
          </c:spPr>
          <c:cat>
            <c:strRef>
              <c:f>Sheet1!$A$2:$A$5</c:f>
              <c:strCache>
                <c:ptCount val="4"/>
                <c:pt idx="0">
                  <c:v>Total</c:v>
                </c:pt>
                <c:pt idx="1">
                  <c:v>Region</c:v>
                </c:pt>
                <c:pt idx="2">
                  <c:v>Region + Customer</c:v>
                </c:pt>
                <c:pt idx="3">
                  <c:v>Order line</c:v>
                </c:pt>
              </c:strCache>
            </c:strRef>
          </c:cat>
          <c:val>
            <c:numRef>
              <c:f>Sheet1!$B$2:$B$5</c:f>
              <c:numCache>
                <c:formatCode>General</c:formatCode>
                <c:ptCount val="4"/>
                <c:pt idx="0">
                  <c:v>1</c:v>
                </c:pt>
                <c:pt idx="1">
                  <c:v>6</c:v>
                </c:pt>
                <c:pt idx="2">
                  <c:v>420</c:v>
                </c:pt>
                <c:pt idx="3">
                  <c:v>2500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10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C181-Tableau-Data-Prep-Masterclas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exams.tertiaryinfotech.com/practice-exams/tableau/tableau-desktop-specialist"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4800600" y="201168"/>
            <a:ext cx="7388352" cy="6455664"/>
          </a:xfrm>
          <a:prstGeom prst="rect">
            <a:avLst/>
          </a:prstGeom>
        </p:spPr>
      </p:pic>
      <p:sp>
        <p:nvSpPr>
          <p:cNvPr id="4" name="Rectangle 3"/>
          <p:cNvSpPr/>
          <p:nvPr/>
        </p:nvSpPr>
        <p:spPr>
          <a:xfrm>
            <a:off x="0" y="0"/>
            <a:ext cx="576072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182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75120"/>
            <a:ext cx="12191695" cy="182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713232" y="548640"/>
            <a:ext cx="685800" cy="685800"/>
          </a:xfrm>
          <a:prstGeom prst="rect">
            <a:avLst/>
          </a:prstGeom>
        </p:spPr>
      </p:pic>
      <p:sp>
        <p:nvSpPr>
          <p:cNvPr id="8" name="TextBox 7"/>
          <p:cNvSpPr txBox="1"/>
          <p:nvPr/>
        </p:nvSpPr>
        <p:spPr>
          <a:xfrm>
            <a:off x="777240" y="1600200"/>
            <a:ext cx="4572000" cy="411480"/>
          </a:xfrm>
          <a:prstGeom prst="rect">
            <a:avLst/>
          </a:prstGeom>
          <a:noFill/>
        </p:spPr>
        <p:txBody>
          <a:bodyPr wrap="square" anchor="t" lIns="54864" rIns="54864" tIns="54864" bIns="54864">
            <a:spAutoFit/>
          </a:bodyPr>
          <a:lstStyle/>
          <a:p>
            <a:pPr algn="l">
              <a:spcAft>
                <a:spcPts val="300"/>
              </a:spcAft>
            </a:pPr>
            <a:r>
              <a:rPr sz="1400" b="1">
                <a:solidFill>
                  <a:srgbClr val="1F6FEB"/>
                </a:solidFill>
                <a:latin typeface="Arial"/>
              </a:rPr>
              <a:t>COURSE SLIDES · NON-WSQ</a:t>
            </a:r>
          </a:p>
        </p:txBody>
      </p:sp>
      <p:sp>
        <p:nvSpPr>
          <p:cNvPr id="9" name="TextBox 8"/>
          <p:cNvSpPr txBox="1"/>
          <p:nvPr/>
        </p:nvSpPr>
        <p:spPr>
          <a:xfrm>
            <a:off x="777240" y="2057400"/>
            <a:ext cx="4434840" cy="1828800"/>
          </a:xfrm>
          <a:prstGeom prst="rect">
            <a:avLst/>
          </a:prstGeom>
          <a:noFill/>
        </p:spPr>
        <p:txBody>
          <a:bodyPr wrap="square" anchor="ctr" lIns="54864" rIns="54864" tIns="54864" bIns="54864">
            <a:spAutoFit/>
          </a:bodyPr>
          <a:lstStyle/>
          <a:p>
            <a:pPr algn="l">
              <a:spcAft>
                <a:spcPts val="300"/>
              </a:spcAft>
            </a:pPr>
            <a:r>
              <a:rPr sz="3100" b="1">
                <a:solidFill>
                  <a:srgbClr val="161B26"/>
                </a:solidFill>
                <a:latin typeface="Arial"/>
              </a:rPr>
              <a:t>Tableau Data Prep Masterclass</a:t>
            </a:r>
          </a:p>
        </p:txBody>
      </p:sp>
      <p:sp>
        <p:nvSpPr>
          <p:cNvPr id="10" name="TextBox 9"/>
          <p:cNvSpPr txBox="1"/>
          <p:nvPr/>
        </p:nvSpPr>
        <p:spPr>
          <a:xfrm>
            <a:off x="777240" y="4160520"/>
            <a:ext cx="4480560" cy="960120"/>
          </a:xfrm>
          <a:prstGeom prst="rect">
            <a:avLst/>
          </a:prstGeom>
          <a:noFill/>
        </p:spPr>
        <p:txBody>
          <a:bodyPr wrap="square" anchor="t" lIns="54864" rIns="54864" tIns="54864" bIns="54864">
            <a:spAutoFit/>
          </a:bodyPr>
          <a:lstStyle/>
          <a:p>
            <a:pPr algn="l">
              <a:spcAft>
                <a:spcPts val="300"/>
              </a:spcAft>
            </a:pPr>
            <a:r>
              <a:rPr sz="1400" b="0">
                <a:solidFill>
                  <a:srgbClr val="5B6372"/>
                </a:solidFill>
                <a:latin typeface="Arial"/>
              </a:rPr>
              <a:t>Course Code: C181</a:t>
            </a:r>
          </a:p>
          <a:p>
            <a:pPr algn="l">
              <a:spcAft>
                <a:spcPts val="300"/>
              </a:spcAft>
            </a:pPr>
            <a:r>
              <a:rPr sz="1250" b="0">
                <a:solidFill>
                  <a:srgbClr val="5B6372"/>
                </a:solidFill>
                <a:latin typeface="Arial"/>
              </a:rPr>
              <a:t>Tertiary Infotech Academy Pte Ltd · UEN 201200696W</a:t>
            </a:r>
          </a:p>
        </p:txBody>
      </p:sp>
      <p:sp>
        <p:nvSpPr>
          <p:cNvPr id="11" name="TextBox 10"/>
          <p:cNvSpPr txBox="1"/>
          <p:nvPr/>
        </p:nvSpPr>
        <p:spPr>
          <a:xfrm>
            <a:off x="777240" y="5596128"/>
            <a:ext cx="4389120" cy="411480"/>
          </a:xfrm>
          <a:prstGeom prst="rect">
            <a:avLst/>
          </a:prstGeom>
          <a:noFill/>
        </p:spPr>
        <p:txBody>
          <a:bodyPr wrap="square" anchor="t" lIns="54864" rIns="54864" tIns="54864" bIns="54864">
            <a:spAutoFit/>
          </a:bodyPr>
          <a:lstStyle/>
          <a:p>
            <a:pPr algn="l">
              <a:spcAft>
                <a:spcPts val="300"/>
              </a:spcAft>
            </a:pPr>
            <a:r>
              <a:rPr sz="1150" b="0">
                <a:solidFill>
                  <a:srgbClr val="5B6372"/>
                </a:solidFill>
                <a:latin typeface="Arial"/>
              </a:rPr>
              <a:t>Version v1 · 4 October 2026</a:t>
            </a:r>
          </a:p>
        </p:txBody>
      </p:sp>
      <p:sp>
        <p:nvSpPr>
          <p:cNvPr id="12" name="TextBox 1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3" name="TextBox 1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4" name="TextBox 1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a:t>
            </a:r>
          </a:p>
        </p:txBody>
      </p:sp>
    </p:spTree>
  </p:cSld>
  <p:clrMapOvr>
    <a:masterClrMapping/>
  </p:clrMapOvr>
  <p:transition spd="fast">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COURSE ADMINISTRATION</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Welcome &amp; Housekeeping</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Two-day training · concept-led slides · detailed procedures in the Learner Guide</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00</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a:t>
            </a:r>
          </a:p>
        </p:txBody>
      </p:sp>
    </p:spTree>
  </p:cSld>
  <p:clrMapOvr>
    <a:masterClrMapping/>
  </p:clrMapOvr>
  <p:transition spd="fast">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5B6372"/>
                </a:solidFill>
                <a:latin typeface="Arial"/>
              </a:rPr>
              <a:t>GENERAL TRAINER TEMPLATE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About the Trainer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24612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00200" y="224028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240280"/>
            <a:ext cx="1554480" cy="1554480"/>
          </a:xfrm>
          <a:prstGeom prst="rect">
            <a:avLst/>
          </a:prstGeom>
          <a:noFill/>
        </p:spPr>
        <p:txBody>
          <a:bodyPr wrap="square" anchor="ctr" lIns="54864" rIns="54864" tIns="54864" bIns="54864">
            <a:spAutoFit/>
          </a:bodyPr>
          <a:lstStyle/>
          <a:p>
            <a:pPr algn="ctr">
              <a:spcAft>
                <a:spcPts val="300"/>
              </a:spcAft>
            </a:pPr>
            <a:r>
              <a:rPr sz="4000" b="1">
                <a:solidFill>
                  <a:srgbClr val="FFFFFF"/>
                </a:solidFill>
                <a:latin typeface="Arial"/>
              </a:rPr>
              <a:t>?</a:t>
            </a:r>
          </a:p>
        </p:txBody>
      </p:sp>
      <p:sp>
        <p:nvSpPr>
          <p:cNvPr id="10" name="TextBox 9"/>
          <p:cNvSpPr txBox="1"/>
          <p:nvPr/>
        </p:nvSpPr>
        <p:spPr>
          <a:xfrm>
            <a:off x="960120" y="4069080"/>
            <a:ext cx="2834640" cy="502920"/>
          </a:xfrm>
          <a:prstGeom prst="rect">
            <a:avLst/>
          </a:prstGeom>
          <a:noFill/>
        </p:spPr>
        <p:txBody>
          <a:bodyPr wrap="square" anchor="t" lIns="54864" rIns="54864" tIns="54864" bIns="54864">
            <a:spAutoFit/>
          </a:bodyPr>
          <a:lstStyle/>
          <a:p>
            <a:pPr algn="ctr">
              <a:spcAft>
                <a:spcPts val="300"/>
              </a:spcAft>
            </a:pPr>
            <a:r>
              <a:rPr sz="1900" b="1">
                <a:solidFill>
                  <a:srgbClr val="161B26"/>
                </a:solidFill>
                <a:latin typeface="Arial"/>
              </a:rPr>
              <a:t>Your Trainer</a:t>
            </a:r>
          </a:p>
        </p:txBody>
      </p:sp>
      <p:sp>
        <p:nvSpPr>
          <p:cNvPr id="11" name="TextBox 10"/>
          <p:cNvSpPr txBox="1"/>
          <p:nvPr/>
        </p:nvSpPr>
        <p:spPr>
          <a:xfrm>
            <a:off x="960120" y="4617720"/>
            <a:ext cx="2834640" cy="6400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Complete before class</a:t>
            </a:r>
          </a:p>
        </p:txBody>
      </p:sp>
      <p:sp>
        <p:nvSpPr>
          <p:cNvPr id="12" name="Rectangle 11"/>
          <p:cNvSpPr/>
          <p:nvPr/>
        </p:nvSpPr>
        <p:spPr>
          <a:xfrm>
            <a:off x="4343400" y="1783080"/>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783080"/>
            <a:ext cx="82296"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847088"/>
            <a:ext cx="6537960" cy="749808"/>
          </a:xfrm>
          <a:prstGeom prst="rect">
            <a:avLst/>
          </a:prstGeom>
          <a:noFill/>
        </p:spPr>
        <p:txBody>
          <a:bodyPr wrap="square" anchor="ctr" lIns="54864" rIns="54864" tIns="54864" bIns="54864">
            <a:spAutoFit/>
          </a:bodyPr>
          <a:lstStyle/>
          <a:p>
            <a:pPr algn="l">
              <a:spcAft>
                <a:spcPts val="300"/>
              </a:spcAft>
            </a:pPr>
            <a:r>
              <a:rPr sz="1050" b="1">
                <a:solidFill>
                  <a:srgbClr val="1F6FEB"/>
                </a:solidFill>
                <a:latin typeface="Arial"/>
              </a:rPr>
              <a:t>NAME</a:t>
            </a:r>
          </a:p>
          <a:p>
            <a:pPr algn="l">
              <a:spcAft>
                <a:spcPts val="300"/>
              </a:spcAft>
            </a:pPr>
            <a:r>
              <a:rPr sz="1250" b="0">
                <a:solidFill>
                  <a:srgbClr val="E2E8F0"/>
                </a:solidFill>
                <a:latin typeface="Arial"/>
              </a:rPr>
              <a:t>____________________________________________</a:t>
            </a:r>
          </a:p>
        </p:txBody>
      </p:sp>
      <p:sp>
        <p:nvSpPr>
          <p:cNvPr id="15" name="Rectangle 14"/>
          <p:cNvSpPr/>
          <p:nvPr/>
        </p:nvSpPr>
        <p:spPr>
          <a:xfrm>
            <a:off x="4343400" y="2816352"/>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2816352"/>
            <a:ext cx="82296"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880360"/>
            <a:ext cx="6537960" cy="749808"/>
          </a:xfrm>
          <a:prstGeom prst="rect">
            <a:avLst/>
          </a:prstGeom>
          <a:noFill/>
        </p:spPr>
        <p:txBody>
          <a:bodyPr wrap="square" anchor="ctr" lIns="54864" rIns="54864" tIns="54864" bIns="54864">
            <a:spAutoFit/>
          </a:bodyPr>
          <a:lstStyle/>
          <a:p>
            <a:pPr algn="l">
              <a:spcAft>
                <a:spcPts val="300"/>
              </a:spcAft>
            </a:pPr>
            <a:r>
              <a:rPr sz="1050" b="1">
                <a:solidFill>
                  <a:srgbClr val="10B981"/>
                </a:solidFill>
                <a:latin typeface="Arial"/>
              </a:rPr>
              <a:t>TITLE / DESIGNATION</a:t>
            </a:r>
          </a:p>
          <a:p>
            <a:pPr algn="l">
              <a:spcAft>
                <a:spcPts val="300"/>
              </a:spcAft>
            </a:pPr>
            <a:r>
              <a:rPr sz="1250" b="0">
                <a:solidFill>
                  <a:srgbClr val="E2E8F0"/>
                </a:solidFill>
                <a:latin typeface="Arial"/>
              </a:rPr>
              <a:t>____________________________________________</a:t>
            </a:r>
          </a:p>
        </p:txBody>
      </p:sp>
      <p:sp>
        <p:nvSpPr>
          <p:cNvPr id="18" name="Rectangle 17"/>
          <p:cNvSpPr/>
          <p:nvPr/>
        </p:nvSpPr>
        <p:spPr>
          <a:xfrm>
            <a:off x="4343400" y="3849624"/>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400" y="3849624"/>
            <a:ext cx="82296"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13632"/>
            <a:ext cx="6537960" cy="749808"/>
          </a:xfrm>
          <a:prstGeom prst="rect">
            <a:avLst/>
          </a:prstGeom>
          <a:noFill/>
        </p:spPr>
        <p:txBody>
          <a:bodyPr wrap="square" anchor="ctr" lIns="54864" rIns="54864" tIns="54864" bIns="54864">
            <a:spAutoFit/>
          </a:bodyPr>
          <a:lstStyle/>
          <a:p>
            <a:pPr algn="l">
              <a:spcAft>
                <a:spcPts val="300"/>
              </a:spcAft>
            </a:pPr>
            <a:r>
              <a:rPr sz="1050" b="1">
                <a:solidFill>
                  <a:srgbClr val="7C3AED"/>
                </a:solidFill>
                <a:latin typeface="Arial"/>
              </a:rPr>
              <a:t>QUALIFICATIONS</a:t>
            </a:r>
          </a:p>
          <a:p>
            <a:pPr algn="l">
              <a:spcAft>
                <a:spcPts val="300"/>
              </a:spcAft>
            </a:pPr>
            <a:r>
              <a:rPr sz="1250" b="0">
                <a:solidFill>
                  <a:srgbClr val="E2E8F0"/>
                </a:solidFill>
                <a:latin typeface="Arial"/>
              </a:rPr>
              <a:t>____________________________________________</a:t>
            </a:r>
          </a:p>
        </p:txBody>
      </p:sp>
      <p:sp>
        <p:nvSpPr>
          <p:cNvPr id="21" name="Rectangle 20"/>
          <p:cNvSpPr/>
          <p:nvPr/>
        </p:nvSpPr>
        <p:spPr>
          <a:xfrm>
            <a:off x="4343400" y="4882896"/>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4882896"/>
            <a:ext cx="82296"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946904"/>
            <a:ext cx="6537960" cy="749808"/>
          </a:xfrm>
          <a:prstGeom prst="rect">
            <a:avLst/>
          </a:prstGeom>
          <a:noFill/>
        </p:spPr>
        <p:txBody>
          <a:bodyPr wrap="square" anchor="ctr" lIns="54864" rIns="54864" tIns="54864" bIns="54864">
            <a:spAutoFit/>
          </a:bodyPr>
          <a:lstStyle/>
          <a:p>
            <a:pPr algn="l">
              <a:spcAft>
                <a:spcPts val="300"/>
              </a:spcAft>
            </a:pPr>
            <a:r>
              <a:rPr sz="1050" b="1">
                <a:solidFill>
                  <a:srgbClr val="F59E0B"/>
                </a:solidFill>
                <a:latin typeface="Arial"/>
              </a:rPr>
              <a:t>AREAS OF EXPERTISE</a:t>
            </a:r>
          </a:p>
          <a:p>
            <a:pPr algn="l">
              <a:spcAft>
                <a:spcPts val="300"/>
              </a:spcAft>
            </a:pPr>
            <a:r>
              <a:rPr sz="1250" b="0">
                <a:solidFill>
                  <a:srgbClr val="E2E8F0"/>
                </a:solidFill>
                <a:latin typeface="Arial"/>
              </a:rPr>
              <a:t>____________________________________________</a:t>
            </a:r>
          </a:p>
        </p:txBody>
      </p:sp>
      <p:sp>
        <p:nvSpPr>
          <p:cNvPr id="24" name="TextBox 23"/>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5" name="TextBox 24"/>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6" name="TextBox 25"/>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a:t>
            </a:r>
          </a:p>
        </p:txBody>
      </p:sp>
    </p:spTree>
  </p:cSld>
  <p:clrMapOvr>
    <a:masterClrMapping/>
  </p:clrMapOvr>
  <p:transition spd="fast">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NAMED TRAINER</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About the Trainer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24612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00200" y="224028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240280"/>
            <a:ext cx="1554480" cy="1554480"/>
          </a:xfrm>
          <a:prstGeom prst="rect">
            <a:avLst/>
          </a:prstGeom>
          <a:noFill/>
        </p:spPr>
        <p:txBody>
          <a:bodyPr wrap="square" anchor="ctr" lIns="54864" rIns="54864" tIns="54864" bIns="54864">
            <a:spAutoFit/>
          </a:bodyPr>
          <a:lstStyle/>
          <a:p>
            <a:pPr algn="ctr">
              <a:spcAft>
                <a:spcPts val="300"/>
              </a:spcAft>
            </a:pPr>
            <a:r>
              <a:rPr sz="4000" b="1">
                <a:solidFill>
                  <a:srgbClr val="FFFFFF"/>
                </a:solidFill>
                <a:latin typeface="Arial"/>
              </a:rPr>
              <a:t>AA</a:t>
            </a:r>
          </a:p>
        </p:txBody>
      </p:sp>
      <p:sp>
        <p:nvSpPr>
          <p:cNvPr id="10" name="TextBox 9"/>
          <p:cNvSpPr txBox="1"/>
          <p:nvPr/>
        </p:nvSpPr>
        <p:spPr>
          <a:xfrm>
            <a:off x="960120" y="4069080"/>
            <a:ext cx="2834640" cy="502920"/>
          </a:xfrm>
          <a:prstGeom prst="rect">
            <a:avLst/>
          </a:prstGeom>
          <a:noFill/>
        </p:spPr>
        <p:txBody>
          <a:bodyPr wrap="square" anchor="t" lIns="54864" rIns="54864" tIns="54864" bIns="54864">
            <a:spAutoFit/>
          </a:bodyPr>
          <a:lstStyle/>
          <a:p>
            <a:pPr algn="ctr">
              <a:spcAft>
                <a:spcPts val="300"/>
              </a:spcAft>
            </a:pPr>
            <a:r>
              <a:rPr sz="1900" b="1">
                <a:solidFill>
                  <a:srgbClr val="161B26"/>
                </a:solidFill>
                <a:latin typeface="Arial"/>
              </a:rPr>
              <a:t>Dr. Alfred Ang</a:t>
            </a:r>
          </a:p>
        </p:txBody>
      </p:sp>
      <p:sp>
        <p:nvSpPr>
          <p:cNvPr id="11" name="TextBox 10"/>
          <p:cNvSpPr txBox="1"/>
          <p:nvPr/>
        </p:nvSpPr>
        <p:spPr>
          <a:xfrm>
            <a:off x="960120" y="4617720"/>
            <a:ext cx="2834640" cy="6400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Principal Trainer · Tertiary Infotech Academy</a:t>
            </a:r>
          </a:p>
        </p:txBody>
      </p:sp>
      <p:sp>
        <p:nvSpPr>
          <p:cNvPr id="12" name="Rectangle 11"/>
          <p:cNvSpPr/>
          <p:nvPr/>
        </p:nvSpPr>
        <p:spPr>
          <a:xfrm>
            <a:off x="4343400" y="1783080"/>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783080"/>
            <a:ext cx="82296"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1847088"/>
            <a:ext cx="6537960" cy="749808"/>
          </a:xfrm>
          <a:prstGeom prst="rect">
            <a:avLst/>
          </a:prstGeom>
          <a:noFill/>
        </p:spPr>
        <p:txBody>
          <a:bodyPr wrap="square" anchor="ctr" lIns="54864" rIns="54864" tIns="54864" bIns="54864">
            <a:spAutoFit/>
          </a:bodyPr>
          <a:lstStyle/>
          <a:p>
            <a:pPr algn="l">
              <a:spcAft>
                <a:spcPts val="300"/>
              </a:spcAft>
            </a:pPr>
            <a:r>
              <a:rPr sz="1050" b="1">
                <a:solidFill>
                  <a:srgbClr val="1F6FEB"/>
                </a:solidFill>
                <a:latin typeface="Arial"/>
              </a:rPr>
              <a:t>ROLE</a:t>
            </a:r>
          </a:p>
          <a:p>
            <a:pPr algn="l">
              <a:spcAft>
                <a:spcPts val="300"/>
              </a:spcAft>
            </a:pPr>
            <a:r>
              <a:rPr sz="1250" b="0">
                <a:solidFill>
                  <a:srgbClr val="161B26"/>
                </a:solidFill>
                <a:latin typeface="Arial"/>
              </a:rPr>
              <a:t>Principal trainer and curriculum developer</a:t>
            </a:r>
          </a:p>
        </p:txBody>
      </p:sp>
      <p:sp>
        <p:nvSpPr>
          <p:cNvPr id="15" name="Rectangle 14"/>
          <p:cNvSpPr/>
          <p:nvPr/>
        </p:nvSpPr>
        <p:spPr>
          <a:xfrm>
            <a:off x="4343400" y="2816352"/>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2816352"/>
            <a:ext cx="82296"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2880360"/>
            <a:ext cx="6537960" cy="749808"/>
          </a:xfrm>
          <a:prstGeom prst="rect">
            <a:avLst/>
          </a:prstGeom>
          <a:noFill/>
        </p:spPr>
        <p:txBody>
          <a:bodyPr wrap="square" anchor="ctr" lIns="54864" rIns="54864" tIns="54864" bIns="54864">
            <a:spAutoFit/>
          </a:bodyPr>
          <a:lstStyle/>
          <a:p>
            <a:pPr algn="l">
              <a:spcAft>
                <a:spcPts val="300"/>
              </a:spcAft>
            </a:pPr>
            <a:r>
              <a:rPr sz="1050" b="1">
                <a:solidFill>
                  <a:srgbClr val="10B981"/>
                </a:solidFill>
                <a:latin typeface="Arial"/>
              </a:rPr>
              <a:t>EXPERTISE</a:t>
            </a:r>
          </a:p>
          <a:p>
            <a:pPr algn="l">
              <a:spcAft>
                <a:spcPts val="300"/>
              </a:spcAft>
            </a:pPr>
            <a:r>
              <a:rPr sz="1250" b="0">
                <a:solidFill>
                  <a:srgbClr val="161B26"/>
                </a:solidFill>
                <a:latin typeface="Arial"/>
              </a:rPr>
              <a:t>Data analytics, visualisation, AI and business technology</a:t>
            </a:r>
          </a:p>
        </p:txBody>
      </p:sp>
      <p:sp>
        <p:nvSpPr>
          <p:cNvPr id="18" name="Rectangle 17"/>
          <p:cNvSpPr/>
          <p:nvPr/>
        </p:nvSpPr>
        <p:spPr>
          <a:xfrm>
            <a:off x="4343400" y="3849624"/>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43400" y="3849624"/>
            <a:ext cx="82296"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3913632"/>
            <a:ext cx="6537960" cy="749808"/>
          </a:xfrm>
          <a:prstGeom prst="rect">
            <a:avLst/>
          </a:prstGeom>
          <a:noFill/>
        </p:spPr>
        <p:txBody>
          <a:bodyPr wrap="square" anchor="ctr" lIns="54864" rIns="54864" tIns="54864" bIns="54864">
            <a:spAutoFit/>
          </a:bodyPr>
          <a:lstStyle/>
          <a:p>
            <a:pPr algn="l">
              <a:spcAft>
                <a:spcPts val="300"/>
              </a:spcAft>
            </a:pPr>
            <a:r>
              <a:rPr sz="1050" b="1">
                <a:solidFill>
                  <a:srgbClr val="7C3AED"/>
                </a:solidFill>
                <a:latin typeface="Arial"/>
              </a:rPr>
              <a:t>DELIVERY</a:t>
            </a:r>
          </a:p>
          <a:p>
            <a:pPr algn="l">
              <a:spcAft>
                <a:spcPts val="300"/>
              </a:spcAft>
            </a:pPr>
            <a:r>
              <a:rPr sz="1250" b="0">
                <a:solidFill>
                  <a:srgbClr val="161B26"/>
                </a:solidFill>
                <a:latin typeface="Arial"/>
              </a:rPr>
              <a:t>Certification and applied workplace training</a:t>
            </a:r>
          </a:p>
        </p:txBody>
      </p:sp>
      <p:sp>
        <p:nvSpPr>
          <p:cNvPr id="21" name="Rectangle 20"/>
          <p:cNvSpPr/>
          <p:nvPr/>
        </p:nvSpPr>
        <p:spPr>
          <a:xfrm>
            <a:off x="4343400" y="4882896"/>
            <a:ext cx="7086600"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3400" y="4882896"/>
            <a:ext cx="82296"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17720" y="4946904"/>
            <a:ext cx="6537960" cy="749808"/>
          </a:xfrm>
          <a:prstGeom prst="rect">
            <a:avLst/>
          </a:prstGeom>
          <a:noFill/>
        </p:spPr>
        <p:txBody>
          <a:bodyPr wrap="square" anchor="ctr" lIns="54864" rIns="54864" tIns="54864" bIns="54864">
            <a:spAutoFit/>
          </a:bodyPr>
          <a:lstStyle/>
          <a:p>
            <a:pPr algn="l">
              <a:spcAft>
                <a:spcPts val="300"/>
              </a:spcAft>
            </a:pPr>
            <a:r>
              <a:rPr sz="1050" b="1">
                <a:solidFill>
                  <a:srgbClr val="F59E0B"/>
                </a:solidFill>
                <a:latin typeface="Arial"/>
              </a:rPr>
              <a:t>APPROACH</a:t>
            </a:r>
          </a:p>
          <a:p>
            <a:pPr algn="l">
              <a:spcAft>
                <a:spcPts val="300"/>
              </a:spcAft>
            </a:pPr>
            <a:r>
              <a:rPr sz="1250" b="0">
                <a:solidFill>
                  <a:srgbClr val="161B26"/>
                </a:solidFill>
                <a:latin typeface="Arial"/>
              </a:rPr>
              <a:t>Concept clarity, realistic data and evidence-based practice</a:t>
            </a:r>
          </a:p>
        </p:txBody>
      </p:sp>
      <p:sp>
        <p:nvSpPr>
          <p:cNvPr id="24" name="TextBox 23"/>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5" name="TextBox 24"/>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6" name="TextBox 25"/>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a:t>
            </a:r>
          </a:p>
        </p:txBody>
      </p:sp>
    </p:spTree>
  </p:cSld>
  <p:clrMapOvr>
    <a:masterClrMapping/>
  </p:clrMapOvr>
  <p:transition spd="fast">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LEARNER INTRODUCTION</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Let's Know Each Other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Name, organisation and role.</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How you currently use spreadsheets, BI or Tableau.</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One recurring decision your data should make easier.</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Your target outcome for the Tableau Desktop Specialist credential.</a:t>
            </a:r>
          </a:p>
        </p:txBody>
      </p:sp>
      <p:sp>
        <p:nvSpPr>
          <p:cNvPr id="19" name="TextBox 1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0" name="TextBox 1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1" name="TextBox 2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a:t>
            </a:r>
          </a:p>
        </p:txBody>
      </p:sp>
    </p:spTree>
  </p:cSld>
  <p:clrMapOvr>
    <a:masterClrMapping/>
  </p:clrMapOvr>
  <p:transition spd="fast">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HOUSEKEEPING</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Ground Rules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130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168652"/>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168652"/>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Participate</a:t>
            </a:r>
          </a:p>
          <a:p>
            <a:pPr algn="l">
              <a:spcAft>
                <a:spcPts val="300"/>
              </a:spcAft>
            </a:pPr>
            <a:r>
              <a:rPr sz="1200" b="0">
                <a:solidFill>
                  <a:srgbClr val="5B6372"/>
                </a:solidFill>
                <a:latin typeface="Arial"/>
              </a:rPr>
              <a:t>Ask, test and explain — active practice builds recall.</a:t>
            </a:r>
          </a:p>
        </p:txBody>
      </p:sp>
      <p:sp>
        <p:nvSpPr>
          <p:cNvPr id="12" name="Rectangle 11"/>
          <p:cNvSpPr/>
          <p:nvPr/>
        </p:nvSpPr>
        <p:spPr>
          <a:xfrm>
            <a:off x="6222492" y="1764792"/>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130149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16865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168652"/>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Respect</a:t>
            </a:r>
          </a:p>
          <a:p>
            <a:pPr algn="l">
              <a:spcAft>
                <a:spcPts val="300"/>
              </a:spcAft>
            </a:pPr>
            <a:r>
              <a:rPr sz="1200" b="0">
                <a:solidFill>
                  <a:srgbClr val="5B6372"/>
                </a:solidFill>
                <a:latin typeface="Arial"/>
              </a:rPr>
              <a:t>One conversation at a time; critique ideas, not people.</a:t>
            </a:r>
          </a:p>
        </p:txBody>
      </p:sp>
      <p:sp>
        <p:nvSpPr>
          <p:cNvPr id="17" name="Rectangle 16"/>
          <p:cNvSpPr/>
          <p:nvPr/>
        </p:nvSpPr>
        <p:spPr>
          <a:xfrm>
            <a:off x="768096" y="3285743"/>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3285743"/>
            <a:ext cx="82296" cy="130149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3689604"/>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3689604"/>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3377183"/>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Protect data</a:t>
            </a:r>
          </a:p>
          <a:p>
            <a:pPr algn="l">
              <a:spcAft>
                <a:spcPts val="300"/>
              </a:spcAft>
            </a:pPr>
            <a:r>
              <a:rPr sz="1200" b="0">
                <a:solidFill>
                  <a:srgbClr val="5B6372"/>
                </a:solidFill>
                <a:latin typeface="Arial"/>
              </a:rPr>
              <a:t>Use supplied mock data; do not expose workplace records.</a:t>
            </a:r>
          </a:p>
        </p:txBody>
      </p:sp>
      <p:sp>
        <p:nvSpPr>
          <p:cNvPr id="22" name="Rectangle 21"/>
          <p:cNvSpPr/>
          <p:nvPr/>
        </p:nvSpPr>
        <p:spPr>
          <a:xfrm>
            <a:off x="6222492" y="3285743"/>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285743"/>
            <a:ext cx="82296" cy="130149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3689604"/>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3689604"/>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3377183"/>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Stay punctual</a:t>
            </a:r>
          </a:p>
          <a:p>
            <a:pPr algn="l">
              <a:spcAft>
                <a:spcPts val="300"/>
              </a:spcAft>
            </a:pPr>
            <a:r>
              <a:rPr sz="1200" b="0">
                <a:solidFill>
                  <a:srgbClr val="5B6372"/>
                </a:solidFill>
                <a:latin typeface="Arial"/>
              </a:rPr>
              <a:t>Return from breaks on time.</a:t>
            </a:r>
          </a:p>
        </p:txBody>
      </p:sp>
      <p:sp>
        <p:nvSpPr>
          <p:cNvPr id="27" name="Rectangle 26"/>
          <p:cNvSpPr/>
          <p:nvPr/>
        </p:nvSpPr>
        <p:spPr>
          <a:xfrm>
            <a:off x="768096" y="4806695"/>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8096" y="4806695"/>
            <a:ext cx="82296" cy="130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6695" y="521055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695" y="5210555"/>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664207" y="4898135"/>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Save evidence</a:t>
            </a:r>
          </a:p>
          <a:p>
            <a:pPr algn="l">
              <a:spcAft>
                <a:spcPts val="300"/>
              </a:spcAft>
            </a:pPr>
            <a:r>
              <a:rPr sz="1200" b="0">
                <a:solidFill>
                  <a:srgbClr val="5B6372"/>
                </a:solidFill>
                <a:latin typeface="Arial"/>
              </a:rPr>
              <a:t>Keep Tableau workbooks, screenshots and checklists.</a:t>
            </a:r>
          </a:p>
        </p:txBody>
      </p:sp>
      <p:sp>
        <p:nvSpPr>
          <p:cNvPr id="32" name="Rectangle 31"/>
          <p:cNvSpPr/>
          <p:nvPr/>
        </p:nvSpPr>
        <p:spPr>
          <a:xfrm>
            <a:off x="6222492" y="4806695"/>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22492" y="4806695"/>
            <a:ext cx="82296" cy="130149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51092" y="5210555"/>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51092" y="5210555"/>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6</a:t>
            </a:r>
          </a:p>
        </p:txBody>
      </p:sp>
      <p:sp>
        <p:nvSpPr>
          <p:cNvPr id="36" name="TextBox 35"/>
          <p:cNvSpPr txBox="1"/>
          <p:nvPr/>
        </p:nvSpPr>
        <p:spPr>
          <a:xfrm>
            <a:off x="7118604" y="4898135"/>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Procedures live in LG</a:t>
            </a:r>
          </a:p>
          <a:p>
            <a:pPr algn="l">
              <a:spcAft>
                <a:spcPts val="300"/>
              </a:spcAft>
            </a:pPr>
            <a:r>
              <a:rPr sz="1200" b="0">
                <a:solidFill>
                  <a:srgbClr val="5B6372"/>
                </a:solidFill>
                <a:latin typeface="Arial"/>
              </a:rPr>
              <a:t>Slides teach concepts; the Learner Guide gives clicks and steps.</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a:t>
            </a:r>
          </a:p>
        </p:txBody>
      </p:sp>
    </p:spTree>
  </p:cSld>
  <p:clrMapOvr>
    <a:masterClrMapping/>
  </p:clrMapOvr>
  <p:transition spd="fast">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SCHEDULE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Lesson Plan — Day 1</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51937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51937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1975104"/>
            <a:ext cx="4736592" cy="384048"/>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Morning</a:t>
            </a:r>
          </a:p>
        </p:txBody>
      </p:sp>
      <p:sp>
        <p:nvSpPr>
          <p:cNvPr id="10" name="TextBox 9"/>
          <p:cNvSpPr txBox="1"/>
          <p:nvPr/>
        </p:nvSpPr>
        <p:spPr>
          <a:xfrm>
            <a:off x="1024128" y="2514600"/>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9:30 Welcome and course orientation</a:t>
            </a:r>
            <a:r>
              <a:rPr sz="1350" b="0">
                <a:solidFill>
                  <a:srgbClr val="161B26"/>
                </a:solidFill>
                <a:latin typeface="Arial"/>
              </a:rPr>
              <a:t/>
            </a:r>
          </a:p>
        </p:txBody>
      </p:sp>
      <p:sp>
        <p:nvSpPr>
          <p:cNvPr id="11" name="TextBox 10"/>
          <p:cNvSpPr txBox="1"/>
          <p:nvPr/>
        </p:nvSpPr>
        <p:spPr>
          <a:xfrm>
            <a:off x="1024128" y="3136392"/>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9:45 Topic 1: connect, prepare and cleanse</a:t>
            </a:r>
            <a:r>
              <a:rPr sz="1350" b="0">
                <a:solidFill>
                  <a:srgbClr val="161B26"/>
                </a:solidFill>
                <a:latin typeface="Arial"/>
              </a:rPr>
              <a:t/>
            </a:r>
          </a:p>
        </p:txBody>
      </p:sp>
      <p:sp>
        <p:nvSpPr>
          <p:cNvPr id="12" name="TextBox 11"/>
          <p:cNvSpPr txBox="1"/>
          <p:nvPr/>
        </p:nvSpPr>
        <p:spPr>
          <a:xfrm>
            <a:off x="1024128" y="3758184"/>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10:50 Topic 1 labs 1–3</a:t>
            </a:r>
            <a:r>
              <a:rPr sz="1350" b="0">
                <a:solidFill>
                  <a:srgbClr val="161B26"/>
                </a:solidFill>
                <a:latin typeface="Arial"/>
              </a:rPr>
              <a:t/>
            </a:r>
          </a:p>
        </p:txBody>
      </p:sp>
      <p:sp>
        <p:nvSpPr>
          <p:cNvPr id="13" name="TextBox 12"/>
          <p:cNvSpPr txBox="1"/>
          <p:nvPr/>
        </p:nvSpPr>
        <p:spPr>
          <a:xfrm>
            <a:off x="1024128" y="4379976"/>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12:30 Lunch</a:t>
            </a:r>
            <a:r>
              <a:rPr sz="1350" b="0">
                <a:solidFill>
                  <a:srgbClr val="161B26"/>
                </a:solidFill>
                <a:latin typeface="Arial"/>
              </a:rPr>
              <a:t/>
            </a:r>
          </a:p>
        </p:txBody>
      </p:sp>
      <p:sp>
        <p:nvSpPr>
          <p:cNvPr id="15" name="Rectangle 14"/>
          <p:cNvSpPr/>
          <p:nvPr/>
        </p:nvSpPr>
        <p:spPr>
          <a:xfrm>
            <a:off x="6254496"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4496" y="1783080"/>
            <a:ext cx="5166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3096" y="1975104"/>
            <a:ext cx="4709160" cy="38404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Afternoon</a:t>
            </a:r>
          </a:p>
        </p:txBody>
      </p:sp>
      <p:sp>
        <p:nvSpPr>
          <p:cNvPr id="18" name="TextBox 17"/>
          <p:cNvSpPr txBox="1"/>
          <p:nvPr/>
        </p:nvSpPr>
        <p:spPr>
          <a:xfrm>
            <a:off x="6510528" y="2514600"/>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1:00 Lab 11: Tableau Prep cleansing</a:t>
            </a:r>
            <a:r>
              <a:rPr sz="1350" b="0">
                <a:solidFill>
                  <a:srgbClr val="161B26"/>
                </a:solidFill>
                <a:latin typeface="Arial"/>
              </a:rPr>
              <a:t/>
            </a:r>
          </a:p>
        </p:txBody>
      </p:sp>
      <p:sp>
        <p:nvSpPr>
          <p:cNvPr id="19" name="TextBox 18"/>
          <p:cNvSpPr txBox="1"/>
          <p:nvPr/>
        </p:nvSpPr>
        <p:spPr>
          <a:xfrm>
            <a:off x="6510528" y="3136392"/>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2:10 Topic 2: charts and organisation</a:t>
            </a:r>
            <a:r>
              <a:rPr sz="1350" b="0">
                <a:solidFill>
                  <a:srgbClr val="161B26"/>
                </a:solidFill>
                <a:latin typeface="Arial"/>
              </a:rPr>
              <a:t/>
            </a:r>
          </a:p>
        </p:txBody>
      </p:sp>
      <p:sp>
        <p:nvSpPr>
          <p:cNvPr id="20" name="TextBox 19"/>
          <p:cNvSpPr txBox="1"/>
          <p:nvPr/>
        </p:nvSpPr>
        <p:spPr>
          <a:xfrm>
            <a:off x="6510528" y="3758184"/>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3:10 Topic 2 labs 4–7</a:t>
            </a:r>
            <a:r>
              <a:rPr sz="1350" b="0">
                <a:solidFill>
                  <a:srgbClr val="161B26"/>
                </a:solidFill>
                <a:latin typeface="Arial"/>
              </a:rPr>
              <a:t/>
            </a:r>
          </a:p>
        </p:txBody>
      </p:sp>
      <p:sp>
        <p:nvSpPr>
          <p:cNvPr id="21" name="TextBox 20"/>
          <p:cNvSpPr txBox="1"/>
          <p:nvPr/>
        </p:nvSpPr>
        <p:spPr>
          <a:xfrm>
            <a:off x="6510528" y="4379976"/>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5:15 Recap and Q&amp;A</a:t>
            </a:r>
            <a:r>
              <a:rPr sz="1350" b="0">
                <a:solidFill>
                  <a:srgbClr val="161B26"/>
                </a:solidFill>
                <a:latin typeface="Arial"/>
              </a:rPr>
              <a:t/>
            </a:r>
          </a:p>
        </p:txBody>
      </p:sp>
      <p:sp>
        <p:nvSpPr>
          <p:cNvPr id="22" name="TextBox 21"/>
          <p:cNvSpPr txBox="1"/>
          <p:nvPr/>
        </p:nvSpPr>
        <p:spPr>
          <a:xfrm>
            <a:off x="6510528" y="5001768"/>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5:30 End</a:t>
            </a:r>
            <a:r>
              <a:rPr sz="1350" b="0">
                <a:solidFill>
                  <a:srgbClr val="161B26"/>
                </a:solidFill>
                <a:latin typeface="Arial"/>
              </a:rPr>
              <a:t/>
            </a:r>
          </a:p>
        </p:txBody>
      </p:sp>
      <p:sp>
        <p:nvSpPr>
          <p:cNvPr id="23" name="TextBox 22"/>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4" name="TextBox 23"/>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5" name="TextBox 24"/>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a:t>
            </a:r>
          </a:p>
        </p:txBody>
      </p:sp>
    </p:spTree>
  </p:cSld>
  <p:clrMapOvr>
    <a:masterClrMapping/>
  </p:clrMapOvr>
  <p:transition spd="fast">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SCHEDULE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Lesson Plan — Day 2</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5193792"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519379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1975104"/>
            <a:ext cx="4736592" cy="384048"/>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Morning</a:t>
            </a:r>
          </a:p>
        </p:txBody>
      </p:sp>
      <p:sp>
        <p:nvSpPr>
          <p:cNvPr id="10" name="TextBox 9"/>
          <p:cNvSpPr txBox="1"/>
          <p:nvPr/>
        </p:nvSpPr>
        <p:spPr>
          <a:xfrm>
            <a:off x="1024128" y="2514600"/>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9:30 Recap of Day 1</a:t>
            </a:r>
            <a:r>
              <a:rPr sz="1350" b="0">
                <a:solidFill>
                  <a:srgbClr val="161B26"/>
                </a:solidFill>
                <a:latin typeface="Arial"/>
              </a:rPr>
              <a:t/>
            </a:r>
          </a:p>
        </p:txBody>
      </p:sp>
      <p:sp>
        <p:nvSpPr>
          <p:cNvPr id="11" name="TextBox 10"/>
          <p:cNvSpPr txBox="1"/>
          <p:nvPr/>
        </p:nvSpPr>
        <p:spPr>
          <a:xfrm>
            <a:off x="1024128" y="3136392"/>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9:50 Topic 3: format and dashboards</a:t>
            </a:r>
            <a:r>
              <a:rPr sz="1350" b="0">
                <a:solidFill>
                  <a:srgbClr val="161B26"/>
                </a:solidFill>
                <a:latin typeface="Arial"/>
              </a:rPr>
              <a:t/>
            </a:r>
          </a:p>
        </p:txBody>
      </p:sp>
      <p:sp>
        <p:nvSpPr>
          <p:cNvPr id="12" name="TextBox 11"/>
          <p:cNvSpPr txBox="1"/>
          <p:nvPr/>
        </p:nvSpPr>
        <p:spPr>
          <a:xfrm>
            <a:off x="1024128" y="3758184"/>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11:40 Labs 8–9</a:t>
            </a:r>
            <a:r>
              <a:rPr sz="1350" b="0">
                <a:solidFill>
                  <a:srgbClr val="161B26"/>
                </a:solidFill>
                <a:latin typeface="Arial"/>
              </a:rPr>
              <a:t/>
            </a:r>
          </a:p>
        </p:txBody>
      </p:sp>
      <p:sp>
        <p:nvSpPr>
          <p:cNvPr id="13" name="TextBox 12"/>
          <p:cNvSpPr txBox="1"/>
          <p:nvPr/>
        </p:nvSpPr>
        <p:spPr>
          <a:xfrm>
            <a:off x="1024128" y="4379976"/>
            <a:ext cx="4690872" cy="502920"/>
          </a:xfrm>
          <a:prstGeom prst="rect">
            <a:avLst/>
          </a:prstGeom>
          <a:noFill/>
        </p:spPr>
        <p:txBody>
          <a:bodyPr wrap="square" anchor="ctr" lIns="54864" rIns="54864" tIns="54864" bIns="54864">
            <a:spAutoFit/>
          </a:bodyPr>
          <a:lstStyle/>
          <a:p>
            <a:pPr algn="l">
              <a:spcAft>
                <a:spcPts val="300"/>
              </a:spcAft>
            </a:pPr>
            <a:r>
              <a:rPr sz="1500" b="1">
                <a:solidFill>
                  <a:srgbClr val="1F6FEB"/>
                </a:solidFill>
                <a:latin typeface="Arial"/>
              </a:rPr>
              <a:t>• 12:30 Lunch</a:t>
            </a:r>
            <a:r>
              <a:rPr sz="1350" b="0">
                <a:solidFill>
                  <a:srgbClr val="161B26"/>
                </a:solidFill>
                <a:latin typeface="Arial"/>
              </a:rPr>
              <a:t/>
            </a:r>
          </a:p>
        </p:txBody>
      </p:sp>
      <p:sp>
        <p:nvSpPr>
          <p:cNvPr id="15" name="Rectangle 14"/>
          <p:cNvSpPr/>
          <p:nvPr/>
        </p:nvSpPr>
        <p:spPr>
          <a:xfrm>
            <a:off x="6254496" y="1783080"/>
            <a:ext cx="516636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4496" y="1783080"/>
            <a:ext cx="516636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3096" y="1975104"/>
            <a:ext cx="4709160" cy="38404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Afternoon</a:t>
            </a:r>
          </a:p>
        </p:txBody>
      </p:sp>
      <p:sp>
        <p:nvSpPr>
          <p:cNvPr id="18" name="TextBox 17"/>
          <p:cNvSpPr txBox="1"/>
          <p:nvPr/>
        </p:nvSpPr>
        <p:spPr>
          <a:xfrm>
            <a:off x="6510528" y="2514600"/>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1:00 Labs 8–9 continued</a:t>
            </a:r>
            <a:r>
              <a:rPr sz="1350" b="0">
                <a:solidFill>
                  <a:srgbClr val="161B26"/>
                </a:solidFill>
                <a:latin typeface="Arial"/>
              </a:rPr>
              <a:t/>
            </a:r>
          </a:p>
        </p:txBody>
      </p:sp>
      <p:sp>
        <p:nvSpPr>
          <p:cNvPr id="19" name="TextBox 18"/>
          <p:cNvSpPr txBox="1"/>
          <p:nvPr/>
        </p:nvSpPr>
        <p:spPr>
          <a:xfrm>
            <a:off x="6510528" y="3136392"/>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2:30 Topic 4 concepts</a:t>
            </a:r>
            <a:r>
              <a:rPr sz="1350" b="0">
                <a:solidFill>
                  <a:srgbClr val="161B26"/>
                </a:solidFill>
                <a:latin typeface="Arial"/>
              </a:rPr>
              <a:t/>
            </a:r>
          </a:p>
        </p:txBody>
      </p:sp>
      <p:sp>
        <p:nvSpPr>
          <p:cNvPr id="20" name="TextBox 19"/>
          <p:cNvSpPr txBox="1"/>
          <p:nvPr/>
        </p:nvSpPr>
        <p:spPr>
          <a:xfrm>
            <a:off x="6510528" y="3758184"/>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3:10 Capstone lab 10</a:t>
            </a:r>
            <a:r>
              <a:rPr sz="1350" b="0">
                <a:solidFill>
                  <a:srgbClr val="161B26"/>
                </a:solidFill>
                <a:latin typeface="Arial"/>
              </a:rPr>
              <a:t/>
            </a:r>
          </a:p>
        </p:txBody>
      </p:sp>
      <p:sp>
        <p:nvSpPr>
          <p:cNvPr id="21" name="TextBox 20"/>
          <p:cNvSpPr txBox="1"/>
          <p:nvPr/>
        </p:nvSpPr>
        <p:spPr>
          <a:xfrm>
            <a:off x="6510528" y="4379976"/>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5:15 Course wrap-up and feedback</a:t>
            </a:r>
            <a:r>
              <a:rPr sz="1350" b="0">
                <a:solidFill>
                  <a:srgbClr val="161B26"/>
                </a:solidFill>
                <a:latin typeface="Arial"/>
              </a:rPr>
              <a:t/>
            </a:r>
          </a:p>
        </p:txBody>
      </p:sp>
      <p:sp>
        <p:nvSpPr>
          <p:cNvPr id="22" name="TextBox 21"/>
          <p:cNvSpPr txBox="1"/>
          <p:nvPr/>
        </p:nvSpPr>
        <p:spPr>
          <a:xfrm>
            <a:off x="6510528" y="5001768"/>
            <a:ext cx="4663440" cy="502920"/>
          </a:xfrm>
          <a:prstGeom prst="rect">
            <a:avLst/>
          </a:prstGeom>
          <a:noFill/>
        </p:spPr>
        <p:txBody>
          <a:bodyPr wrap="square" anchor="ctr" lIns="54864" rIns="54864" tIns="54864" bIns="54864">
            <a:spAutoFit/>
          </a:bodyPr>
          <a:lstStyle/>
          <a:p>
            <a:pPr algn="l">
              <a:spcAft>
                <a:spcPts val="300"/>
              </a:spcAft>
            </a:pPr>
            <a:r>
              <a:rPr sz="1500" b="1">
                <a:solidFill>
                  <a:srgbClr val="10B981"/>
                </a:solidFill>
                <a:latin typeface="Arial"/>
              </a:rPr>
              <a:t>• 5:30 End</a:t>
            </a:r>
            <a:r>
              <a:rPr sz="1350" b="0">
                <a:solidFill>
                  <a:srgbClr val="161B26"/>
                </a:solidFill>
                <a:latin typeface="Arial"/>
              </a:rPr>
              <a:t/>
            </a:r>
          </a:p>
        </p:txBody>
      </p:sp>
      <p:sp>
        <p:nvSpPr>
          <p:cNvPr id="23" name="TextBox 22"/>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4" name="TextBox 23"/>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5" name="TextBox 24"/>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a:t>
            </a:r>
          </a:p>
        </p:txBody>
      </p:sp>
    </p:spTree>
  </p:cSld>
  <p:clrMapOvr>
    <a:masterClrMapping/>
  </p:clrMapOvr>
  <p:transition spd="fast">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BLUEPRINT · EDITABLE POWERPOINT CHART</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Tableau Desktop Specialist — Exam Weighting</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822960" y="1783080"/>
          <a:ext cx="6400800" cy="4343400"/>
        </p:xfrm>
        <a:graphic>
          <a:graphicData uri="http://schemas.openxmlformats.org/drawingml/2006/chart">
            <c:chart xmlns:c="http://schemas.openxmlformats.org/drawingml/2006/chart" r:id="rId2"/>
          </a:graphicData>
        </a:graphic>
      </p:graphicFrame>
      <p:sp>
        <p:nvSpPr>
          <p:cNvPr id="8" name="Rectangle 7"/>
          <p:cNvSpPr/>
          <p:nvPr/>
        </p:nvSpPr>
        <p:spPr>
          <a:xfrm>
            <a:off x="7543800" y="1874519"/>
            <a:ext cx="3749039"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543800" y="1874519"/>
            <a:ext cx="82296" cy="960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18120" y="1947672"/>
            <a:ext cx="3200400" cy="804672"/>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37%</a:t>
            </a:r>
          </a:p>
          <a:p>
            <a:pPr algn="l">
              <a:spcAft>
                <a:spcPts val="300"/>
              </a:spcAft>
            </a:pPr>
            <a:r>
              <a:rPr sz="1150" b="0">
                <a:solidFill>
                  <a:srgbClr val="161B26"/>
                </a:solidFill>
                <a:latin typeface="Arial"/>
              </a:rPr>
              <a:t>Explore and analyse receives the most teaching and practice time.</a:t>
            </a:r>
          </a:p>
        </p:txBody>
      </p:sp>
      <p:sp>
        <p:nvSpPr>
          <p:cNvPr id="11" name="Rectangle 10"/>
          <p:cNvSpPr/>
          <p:nvPr/>
        </p:nvSpPr>
        <p:spPr>
          <a:xfrm>
            <a:off x="7543800" y="3108960"/>
            <a:ext cx="3749039"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43800" y="3108960"/>
            <a:ext cx="82296"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20" y="3182112"/>
            <a:ext cx="3200400" cy="804672"/>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23% + 25%</a:t>
            </a:r>
          </a:p>
          <a:p>
            <a:pPr algn="l">
              <a:spcAft>
                <a:spcPts val="300"/>
              </a:spcAft>
            </a:pPr>
            <a:r>
              <a:rPr sz="1150" b="0">
                <a:solidFill>
                  <a:srgbClr val="161B26"/>
                </a:solidFill>
                <a:latin typeface="Arial"/>
              </a:rPr>
              <a:t>Data preparation and sharing each remain substantial.</a:t>
            </a:r>
          </a:p>
        </p:txBody>
      </p:sp>
      <p:sp>
        <p:nvSpPr>
          <p:cNvPr id="14" name="Rectangle 13"/>
          <p:cNvSpPr/>
          <p:nvPr/>
        </p:nvSpPr>
        <p:spPr>
          <a:xfrm>
            <a:off x="7543800" y="4343400"/>
            <a:ext cx="3749039"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543800" y="4343400"/>
            <a:ext cx="82296" cy="960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18120" y="4416552"/>
            <a:ext cx="3200400" cy="804672"/>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15%</a:t>
            </a:r>
          </a:p>
          <a:p>
            <a:pPr algn="l">
              <a:spcAft>
                <a:spcPts val="300"/>
              </a:spcAft>
            </a:pPr>
            <a:r>
              <a:rPr sz="1150" b="0">
                <a:solidFill>
                  <a:srgbClr val="161B26"/>
                </a:solidFill>
                <a:latin typeface="Arial"/>
              </a:rPr>
              <a:t>Concepts are compact but foundational to every scenario.</a:t>
            </a:r>
          </a:p>
        </p:txBody>
      </p:sp>
      <p:sp>
        <p:nvSpPr>
          <p:cNvPr id="17" name="TextBox 1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8" name="TextBox 1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9" name="TextBox 1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a:t>
            </a:r>
          </a:p>
        </p:txBody>
      </p:sp>
    </p:spTree>
  </p:cSld>
  <p:clrMapOvr>
    <a:masterClrMapping/>
  </p:clrMapOvr>
  <p:transition spd="fast">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EXAM-ALIGNED JOURNEY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Course Outline by Official Domain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Domain</a:t>
            </a:r>
          </a:p>
        </p:txBody>
      </p:sp>
      <p:sp>
        <p:nvSpPr>
          <p:cNvPr id="9" name="Rectangle 8"/>
          <p:cNvSpPr/>
          <p:nvPr/>
        </p:nvSpPr>
        <p:spPr>
          <a:xfrm>
            <a:off x="4319016" y="1783080"/>
            <a:ext cx="3550920"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Weight</a:t>
            </a:r>
          </a:p>
        </p:txBody>
      </p:sp>
      <p:sp>
        <p:nvSpPr>
          <p:cNvPr id="11" name="Rectangle 10"/>
          <p:cNvSpPr/>
          <p:nvPr/>
        </p:nvSpPr>
        <p:spPr>
          <a:xfrm>
            <a:off x="7869936" y="1783080"/>
            <a:ext cx="3550920" cy="8686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Labs</a:t>
            </a:r>
          </a:p>
        </p:txBody>
      </p:sp>
      <p:sp>
        <p:nvSpPr>
          <p:cNvPr id="13" name="Rectangle 12"/>
          <p:cNvSpPr/>
          <p:nvPr/>
        </p:nvSpPr>
        <p:spPr>
          <a:xfrm>
            <a:off x="76809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70048"/>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1 · Connect and Prepare</a:t>
            </a:r>
          </a:p>
        </p:txBody>
      </p:sp>
      <p:sp>
        <p:nvSpPr>
          <p:cNvPr id="15" name="Rectangle 14"/>
          <p:cNvSpPr/>
          <p:nvPr/>
        </p:nvSpPr>
        <p:spPr>
          <a:xfrm>
            <a:off x="431901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67004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23%</a:t>
            </a:r>
          </a:p>
        </p:txBody>
      </p:sp>
      <p:sp>
        <p:nvSpPr>
          <p:cNvPr id="17" name="Rectangle 16"/>
          <p:cNvSpPr/>
          <p:nvPr/>
        </p:nvSpPr>
        <p:spPr>
          <a:xfrm>
            <a:off x="786993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67004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Labs 1–3</a:t>
            </a:r>
          </a:p>
        </p:txBody>
      </p:sp>
      <p:sp>
        <p:nvSpPr>
          <p:cNvPr id="19" name="Rectangle 18"/>
          <p:cNvSpPr/>
          <p:nvPr/>
        </p:nvSpPr>
        <p:spPr>
          <a:xfrm>
            <a:off x="76809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538727"/>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2 · Explore and Analyse</a:t>
            </a:r>
          </a:p>
        </p:txBody>
      </p:sp>
      <p:sp>
        <p:nvSpPr>
          <p:cNvPr id="21" name="Rectangle 20"/>
          <p:cNvSpPr/>
          <p:nvPr/>
        </p:nvSpPr>
        <p:spPr>
          <a:xfrm>
            <a:off x="431901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53872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37%</a:t>
            </a:r>
          </a:p>
        </p:txBody>
      </p:sp>
      <p:sp>
        <p:nvSpPr>
          <p:cNvPr id="23" name="Rectangle 22"/>
          <p:cNvSpPr/>
          <p:nvPr/>
        </p:nvSpPr>
        <p:spPr>
          <a:xfrm>
            <a:off x="786993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53872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Labs 4–7</a:t>
            </a:r>
          </a:p>
        </p:txBody>
      </p:sp>
      <p:sp>
        <p:nvSpPr>
          <p:cNvPr id="25" name="Rectangle 24"/>
          <p:cNvSpPr/>
          <p:nvPr/>
        </p:nvSpPr>
        <p:spPr>
          <a:xfrm>
            <a:off x="76809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07407"/>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3 · Share Insights</a:t>
            </a:r>
          </a:p>
        </p:txBody>
      </p:sp>
      <p:sp>
        <p:nvSpPr>
          <p:cNvPr id="27" name="Rectangle 26"/>
          <p:cNvSpPr/>
          <p:nvPr/>
        </p:nvSpPr>
        <p:spPr>
          <a:xfrm>
            <a:off x="431901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440740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25%</a:t>
            </a:r>
          </a:p>
        </p:txBody>
      </p:sp>
      <p:sp>
        <p:nvSpPr>
          <p:cNvPr id="29" name="Rectangle 28"/>
          <p:cNvSpPr/>
          <p:nvPr/>
        </p:nvSpPr>
        <p:spPr>
          <a:xfrm>
            <a:off x="786993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440740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Labs 8–9</a:t>
            </a:r>
          </a:p>
        </p:txBody>
      </p:sp>
      <p:sp>
        <p:nvSpPr>
          <p:cNvPr id="31" name="Rectangle 30"/>
          <p:cNvSpPr/>
          <p:nvPr/>
        </p:nvSpPr>
        <p:spPr>
          <a:xfrm>
            <a:off x="76809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276088"/>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4 · Concepts and Preparation</a:t>
            </a:r>
          </a:p>
        </p:txBody>
      </p:sp>
      <p:sp>
        <p:nvSpPr>
          <p:cNvPr id="33" name="Rectangle 32"/>
          <p:cNvSpPr/>
          <p:nvPr/>
        </p:nvSpPr>
        <p:spPr>
          <a:xfrm>
            <a:off x="431901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73880" y="527608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15%</a:t>
            </a:r>
          </a:p>
        </p:txBody>
      </p:sp>
      <p:sp>
        <p:nvSpPr>
          <p:cNvPr id="35" name="Rectangle 34"/>
          <p:cNvSpPr/>
          <p:nvPr/>
        </p:nvSpPr>
        <p:spPr>
          <a:xfrm>
            <a:off x="786993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24799" y="527608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Lab 10</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a:t>
            </a:r>
          </a:p>
        </p:txBody>
      </p:sp>
    </p:spTree>
  </p:cSld>
  <p:clrMapOvr>
    <a:masterClrMapping/>
  </p:clrMapOvr>
  <p:transition spd="fast">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GITHUB · TWO ACCESS OPTIONS</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Access the Hands-On Labs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33832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1F6FEB"/>
                </a:solidFill>
                <a:latin typeface="Arial"/>
              </a:rPr>
              <a:t>Clone repository</a:t>
            </a:r>
          </a:p>
        </p:txBody>
      </p:sp>
      <p:sp>
        <p:nvSpPr>
          <p:cNvPr id="10" name="TextBox 9"/>
          <p:cNvSpPr txBox="1"/>
          <p:nvPr/>
        </p:nvSpPr>
        <p:spPr>
          <a:xfrm>
            <a:off x="996695"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git clone the course repository</a:t>
            </a:r>
          </a:p>
        </p:txBody>
      </p:sp>
      <p:sp>
        <p:nvSpPr>
          <p:cNvPr id="11" name="TextBox 10"/>
          <p:cNvSpPr txBox="1"/>
          <p:nvPr/>
        </p:nvSpPr>
        <p:spPr>
          <a:xfrm>
            <a:off x="996695"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Keeps folder structure intact</a:t>
            </a:r>
          </a:p>
        </p:txBody>
      </p:sp>
      <p:sp>
        <p:nvSpPr>
          <p:cNvPr id="12" name="TextBox 11"/>
          <p:cNvSpPr txBox="1"/>
          <p:nvPr/>
        </p:nvSpPr>
        <p:spPr>
          <a:xfrm>
            <a:off x="996695"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Pull future corrections</a:t>
            </a:r>
          </a:p>
        </p:txBody>
      </p:sp>
      <p:sp>
        <p:nvSpPr>
          <p:cNvPr id="13" name="Rectangle 12"/>
          <p:cNvSpPr/>
          <p:nvPr/>
        </p:nvSpPr>
        <p:spPr>
          <a:xfrm>
            <a:off x="4553712"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53712" y="1783080"/>
            <a:ext cx="338328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10B981"/>
                </a:solidFill>
                <a:latin typeface="Arial"/>
              </a:rPr>
              <a:t>Download ZIP</a:t>
            </a:r>
          </a:p>
        </p:txBody>
      </p:sp>
      <p:sp>
        <p:nvSpPr>
          <p:cNvPr id="16" name="TextBox 15"/>
          <p:cNvSpPr txBox="1"/>
          <p:nvPr/>
        </p:nvSpPr>
        <p:spPr>
          <a:xfrm>
            <a:off x="4782312"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GitHub Code → Download ZIP</a:t>
            </a:r>
          </a:p>
        </p:txBody>
      </p:sp>
      <p:sp>
        <p:nvSpPr>
          <p:cNvPr id="17" name="TextBox 16"/>
          <p:cNvSpPr txBox="1"/>
          <p:nvPr/>
        </p:nvSpPr>
        <p:spPr>
          <a:xfrm>
            <a:off x="4782312"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Extract before opening Excel</a:t>
            </a:r>
          </a:p>
        </p:txBody>
      </p:sp>
      <p:sp>
        <p:nvSpPr>
          <p:cNvPr id="18" name="TextBox 17"/>
          <p:cNvSpPr txBox="1"/>
          <p:nvPr/>
        </p:nvSpPr>
        <p:spPr>
          <a:xfrm>
            <a:off x="4782312"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Use when Git is unavailable</a:t>
            </a:r>
          </a:p>
        </p:txBody>
      </p:sp>
      <p:sp>
        <p:nvSpPr>
          <p:cNvPr id="19" name="Rectangle 18"/>
          <p:cNvSpPr/>
          <p:nvPr/>
        </p:nvSpPr>
        <p:spPr>
          <a:xfrm>
            <a:off x="8339327"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7" y="1783080"/>
            <a:ext cx="338328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7C3AED"/>
                </a:solidFill>
                <a:latin typeface="Arial"/>
              </a:rPr>
              <a:t>Every lab folder</a:t>
            </a:r>
          </a:p>
        </p:txBody>
      </p:sp>
      <p:sp>
        <p:nvSpPr>
          <p:cNvPr id="22" name="TextBox 21"/>
          <p:cNvSpPr txBox="1"/>
          <p:nvPr/>
        </p:nvSpPr>
        <p:spPr>
          <a:xfrm>
            <a:off x="8567928"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README with procedure</a:t>
            </a:r>
          </a:p>
        </p:txBody>
      </p:sp>
      <p:sp>
        <p:nvSpPr>
          <p:cNvPr id="23" name="TextBox 22"/>
          <p:cNvSpPr txBox="1"/>
          <p:nvPr/>
        </p:nvSpPr>
        <p:spPr>
          <a:xfrm>
            <a:off x="8567928"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Mock Excel workbook</a:t>
            </a:r>
          </a:p>
        </p:txBody>
      </p:sp>
      <p:sp>
        <p:nvSpPr>
          <p:cNvPr id="24" name="TextBox 23"/>
          <p:cNvSpPr txBox="1"/>
          <p:nvPr/>
        </p:nvSpPr>
        <p:spPr>
          <a:xfrm>
            <a:off x="8567928"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starter.twb + checklist</a:t>
            </a:r>
          </a:p>
        </p:txBody>
      </p:sp>
      <p:sp>
        <p:nvSpPr>
          <p:cNvPr id="25" name="TextBox 24"/>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6" name="TextBox 25"/>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7" name="TextBox 26"/>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a:t>
            </a:r>
          </a:p>
        </p:txBody>
      </p:sp>
      <p:sp>
        <p:nvSpPr>
          <p:cNvPr id="28" name="TextBox 27"/>
          <p:cNvSpPr txBox="1"/>
          <p:nvPr/>
        </p:nvSpPr>
        <p:spPr>
          <a:xfrm>
            <a:off x="914400" y="5961888"/>
            <a:ext cx="10332720" cy="32004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hlinkClick r:id="rId2"/>
              </a:rPr>
              <a:t>https://github.com/tertiarycourses/C181-Tableau-Data-Prep-Masterclass</a:t>
            </a:r>
          </a:p>
        </p:txBody>
      </p:sp>
    </p:spTree>
  </p:cSld>
  <p:clrMapOvr>
    <a:masterClrMapping/>
  </p:clrMapOvr>
  <p:transition spd="fast">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TOPIC 01</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Connecting to and Preparing Data in Tableau Desktop</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Official exam weighting 23% · Connections · extracts · metadata · relationships · joins · unions · field properties · Tableau Prep cleansing</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01</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a:t>
            </a:r>
          </a:p>
        </p:txBody>
      </p:sp>
    </p:spTree>
  </p:cSld>
  <p:clrMapOvr>
    <a:masterClrMapping/>
  </p:clrMapOvr>
  <p:transition spd="fast">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EXAM WEIGHTING 23%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01 — Core Ideas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130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168652"/>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168652"/>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Connection strategy</a:t>
            </a:r>
          </a:p>
          <a:p>
            <a:pPr algn="l">
              <a:spcAft>
                <a:spcPts val="300"/>
              </a:spcAft>
            </a:pPr>
            <a:r>
              <a:rPr sz="1200" b="0">
                <a:solidFill>
                  <a:srgbClr val="5B6372"/>
                </a:solidFill>
                <a:latin typeface="Arial"/>
              </a:rPr>
              <a:t>Live prioritises source freshness; extracts prioritise speed, portability and predictable performance.</a:t>
            </a:r>
          </a:p>
        </p:txBody>
      </p:sp>
      <p:sp>
        <p:nvSpPr>
          <p:cNvPr id="12" name="Rectangle 11"/>
          <p:cNvSpPr/>
          <p:nvPr/>
        </p:nvSpPr>
        <p:spPr>
          <a:xfrm>
            <a:off x="6222492" y="1764792"/>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130149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168652"/>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168652"/>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Model at the right layer</a:t>
            </a:r>
          </a:p>
          <a:p>
            <a:pPr algn="l">
              <a:spcAft>
                <a:spcPts val="300"/>
              </a:spcAft>
            </a:pPr>
            <a:r>
              <a:rPr sz="1200" b="0">
                <a:solidFill>
                  <a:srgbClr val="5B6372"/>
                </a:solidFill>
                <a:latin typeface="Arial"/>
              </a:rPr>
              <a:t>Relationships preserve table grain; joins create one physical row set; unions append rows.</a:t>
            </a:r>
          </a:p>
        </p:txBody>
      </p:sp>
      <p:sp>
        <p:nvSpPr>
          <p:cNvPr id="17" name="Rectangle 16"/>
          <p:cNvSpPr/>
          <p:nvPr/>
        </p:nvSpPr>
        <p:spPr>
          <a:xfrm>
            <a:off x="768096" y="3285743"/>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3285743"/>
            <a:ext cx="82296" cy="130149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3689604"/>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3689604"/>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3377183"/>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Metadata is quality</a:t>
            </a:r>
          </a:p>
          <a:p>
            <a:pPr algn="l">
              <a:spcAft>
                <a:spcPts val="300"/>
              </a:spcAft>
            </a:pPr>
            <a:r>
              <a:rPr sz="1200" b="0">
                <a:solidFill>
                  <a:srgbClr val="5B6372"/>
                </a:solidFill>
                <a:latin typeface="Arial"/>
              </a:rPr>
              <a:t>Names, aliases, types, roles, formats and defaults determine how fields behave.</a:t>
            </a:r>
          </a:p>
        </p:txBody>
      </p:sp>
      <p:sp>
        <p:nvSpPr>
          <p:cNvPr id="22" name="Rectangle 21"/>
          <p:cNvSpPr/>
          <p:nvPr/>
        </p:nvSpPr>
        <p:spPr>
          <a:xfrm>
            <a:off x="6222492" y="3285743"/>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3285743"/>
            <a:ext cx="82296" cy="130149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3689604"/>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3689604"/>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3377183"/>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Clean before you model</a:t>
            </a:r>
          </a:p>
          <a:p>
            <a:pPr algn="l">
              <a:spcAft>
                <a:spcPts val="300"/>
              </a:spcAft>
            </a:pPr>
            <a:r>
              <a:rPr sz="1200" b="0">
                <a:solidFill>
                  <a:srgbClr val="5B6372"/>
                </a:solidFill>
                <a:latin typeface="Arial"/>
              </a:rPr>
              <a:t>Tableau Prep Builder repairs types, splits, nulls, duplicates and inconsistent members before analysis.</a:t>
            </a:r>
          </a:p>
        </p:txBody>
      </p:sp>
      <p:sp>
        <p:nvSpPr>
          <p:cNvPr id="27" name="Rectangle 26"/>
          <p:cNvSpPr/>
          <p:nvPr/>
        </p:nvSpPr>
        <p:spPr>
          <a:xfrm>
            <a:off x="768096" y="4806695"/>
            <a:ext cx="5198364" cy="130149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8096" y="4806695"/>
            <a:ext cx="82296" cy="130149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6695" y="5210555"/>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695" y="5210555"/>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664207" y="4898135"/>
            <a:ext cx="4119372" cy="1136903"/>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Validate first</a:t>
            </a:r>
          </a:p>
          <a:p>
            <a:pPr algn="l">
              <a:spcAft>
                <a:spcPts val="300"/>
              </a:spcAft>
            </a:pPr>
            <a:r>
              <a:rPr sz="1200" b="0">
                <a:solidFill>
                  <a:srgbClr val="5B6372"/>
                </a:solidFill>
                <a:latin typeface="Arial"/>
              </a:rPr>
              <a:t>Check row counts, null keys, duplicated grain and unmatched records before trusting a view.</a:t>
            </a:r>
          </a:p>
        </p:txBody>
      </p:sp>
      <p:sp>
        <p:nvSpPr>
          <p:cNvPr id="32" name="TextBox 3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3" name="TextBox 3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4" name="TextBox 3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a:t>
            </a:r>
          </a:p>
        </p:txBody>
      </p:sp>
    </p:spTree>
  </p:cSld>
  <p:clrMapOvr>
    <a:masterClrMapping/>
  </p:clrMapOvr>
  <p:transition spd="fast">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SCOPE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01 Blueprint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 group</a:t>
            </a:r>
          </a:p>
        </p:txBody>
      </p:sp>
      <p:sp>
        <p:nvSpPr>
          <p:cNvPr id="9" name="Rectangle 8"/>
          <p:cNvSpPr/>
          <p:nvPr/>
        </p:nvSpPr>
        <p:spPr>
          <a:xfrm>
            <a:off x="4319016" y="1783080"/>
            <a:ext cx="355092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Codes</a:t>
            </a:r>
          </a:p>
        </p:txBody>
      </p:sp>
      <p:sp>
        <p:nvSpPr>
          <p:cNvPr id="11" name="Rectangle 10"/>
          <p:cNvSpPr/>
          <p:nvPr/>
        </p:nvSpPr>
        <p:spPr>
          <a:xfrm>
            <a:off x="7869936" y="1783080"/>
            <a:ext cx="3550920"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832103"/>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Objectives</a:t>
            </a:r>
          </a:p>
        </p:txBody>
      </p:sp>
      <p:sp>
        <p:nvSpPr>
          <p:cNvPr id="13" name="Rectangle 12"/>
          <p:cNvSpPr/>
          <p:nvPr/>
        </p:nvSpPr>
        <p:spPr>
          <a:xfrm>
            <a:off x="76809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70048"/>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Create live connections and extracts</a:t>
            </a:r>
          </a:p>
        </p:txBody>
      </p:sp>
      <p:sp>
        <p:nvSpPr>
          <p:cNvPr id="15" name="Rectangle 14"/>
          <p:cNvSpPr/>
          <p:nvPr/>
        </p:nvSpPr>
        <p:spPr>
          <a:xfrm>
            <a:off x="431901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67004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1.1.1–1.1.5</a:t>
            </a:r>
          </a:p>
        </p:txBody>
      </p:sp>
      <p:sp>
        <p:nvSpPr>
          <p:cNvPr id="17" name="Rectangle 16"/>
          <p:cNvSpPr/>
          <p:nvPr/>
        </p:nvSpPr>
        <p:spPr>
          <a:xfrm>
            <a:off x="7869936" y="265176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67004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5</a:t>
            </a:r>
          </a:p>
        </p:txBody>
      </p:sp>
      <p:sp>
        <p:nvSpPr>
          <p:cNvPr id="19" name="Rectangle 18"/>
          <p:cNvSpPr/>
          <p:nvPr/>
        </p:nvSpPr>
        <p:spPr>
          <a:xfrm>
            <a:off x="76809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538727"/>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Create and manage the data model</a:t>
            </a:r>
          </a:p>
        </p:txBody>
      </p:sp>
      <p:sp>
        <p:nvSpPr>
          <p:cNvPr id="21" name="Rectangle 20"/>
          <p:cNvSpPr/>
          <p:nvPr/>
        </p:nvSpPr>
        <p:spPr>
          <a:xfrm>
            <a:off x="431901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53872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1.2.1–1.2.3</a:t>
            </a:r>
          </a:p>
        </p:txBody>
      </p:sp>
      <p:sp>
        <p:nvSpPr>
          <p:cNvPr id="23" name="Rectangle 22"/>
          <p:cNvSpPr/>
          <p:nvPr/>
        </p:nvSpPr>
        <p:spPr>
          <a:xfrm>
            <a:off x="7869936" y="3520439"/>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53872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4</a:t>
            </a:r>
          </a:p>
        </p:txBody>
      </p:sp>
      <p:sp>
        <p:nvSpPr>
          <p:cNvPr id="25" name="Rectangle 24"/>
          <p:cNvSpPr/>
          <p:nvPr/>
        </p:nvSpPr>
        <p:spPr>
          <a:xfrm>
            <a:off x="76809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07407"/>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Manage data properties</a:t>
            </a:r>
          </a:p>
        </p:txBody>
      </p:sp>
      <p:sp>
        <p:nvSpPr>
          <p:cNvPr id="27" name="Rectangle 26"/>
          <p:cNvSpPr/>
          <p:nvPr/>
        </p:nvSpPr>
        <p:spPr>
          <a:xfrm>
            <a:off x="431901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440740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1.3.1–1.3.5</a:t>
            </a:r>
          </a:p>
        </p:txBody>
      </p:sp>
      <p:sp>
        <p:nvSpPr>
          <p:cNvPr id="29" name="Rectangle 28"/>
          <p:cNvSpPr/>
          <p:nvPr/>
        </p:nvSpPr>
        <p:spPr>
          <a:xfrm>
            <a:off x="7869936" y="4389120"/>
            <a:ext cx="3550920" cy="868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4407407"/>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5</a:t>
            </a:r>
          </a:p>
        </p:txBody>
      </p:sp>
      <p:sp>
        <p:nvSpPr>
          <p:cNvPr id="31" name="Rectangle 30"/>
          <p:cNvSpPr/>
          <p:nvPr/>
        </p:nvSpPr>
        <p:spPr>
          <a:xfrm>
            <a:off x="76809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276088"/>
            <a:ext cx="3441192" cy="832103"/>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Cleanse data with Tableau Prep Builder</a:t>
            </a:r>
          </a:p>
        </p:txBody>
      </p:sp>
      <p:sp>
        <p:nvSpPr>
          <p:cNvPr id="33" name="Rectangle 32"/>
          <p:cNvSpPr/>
          <p:nvPr/>
        </p:nvSpPr>
        <p:spPr>
          <a:xfrm>
            <a:off x="431901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73880" y="527608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1.4.1–1.4.10</a:t>
            </a:r>
          </a:p>
        </p:txBody>
      </p:sp>
      <p:sp>
        <p:nvSpPr>
          <p:cNvPr id="35" name="Rectangle 34"/>
          <p:cNvSpPr/>
          <p:nvPr/>
        </p:nvSpPr>
        <p:spPr>
          <a:xfrm>
            <a:off x="7869936" y="5257800"/>
            <a:ext cx="3550920" cy="86868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24799" y="5276088"/>
            <a:ext cx="3441192" cy="832103"/>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10</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a:t>
            </a:r>
          </a:p>
        </p:txBody>
      </p:sp>
    </p:spTree>
  </p:cSld>
  <p:clrMapOvr>
    <a:masterClrMapping/>
  </p:clrMapOvr>
  <p:transition spd="fast">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 VISUAL · SYNTHETIC SECONDS</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Illustrative Query Response: Live vs Extract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914400" y="1828800"/>
          <a:ext cx="10332720" cy="3886200"/>
        </p:xfrm>
        <a:graphic>
          <a:graphicData uri="http://schemas.openxmlformats.org/drawingml/2006/chart">
            <c:chart xmlns:c="http://schemas.openxmlformats.org/drawingml/2006/chart" r:id="rId2"/>
          </a:graphicData>
        </a:graphic>
      </p:graphicFrame>
      <p:sp>
        <p:nvSpPr>
          <p:cNvPr id="8" name="TextBox 7"/>
          <p:cNvSpPr txBox="1"/>
          <p:nvPr/>
        </p:nvSpPr>
        <p:spPr>
          <a:xfrm>
            <a:off x="914400" y="5760720"/>
            <a:ext cx="10241280" cy="411480"/>
          </a:xfrm>
          <a:prstGeom prst="rect">
            <a:avLst/>
          </a:prstGeom>
          <a:noFill/>
        </p:spPr>
        <p:txBody>
          <a:bodyPr wrap="square" anchor="t" lIns="54864" rIns="54864" tIns="54864" bIns="54864">
            <a:spAutoFit/>
          </a:bodyPr>
          <a:lstStyle/>
          <a:p>
            <a:pPr algn="ctr">
              <a:spcAft>
                <a:spcPts val="300"/>
              </a:spcAft>
            </a:pPr>
            <a:r>
              <a:rPr sz="1150" b="0">
                <a:solidFill>
                  <a:srgbClr val="5B6372"/>
                </a:solidFill>
                <a:latin typeface="Arial"/>
              </a:rPr>
              <a:t>Illustrative only: actual performance depends on source, network, filters, extract design and workload.</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a:t>
            </a:r>
          </a:p>
        </p:txBody>
      </p:sp>
    </p:spTree>
  </p:cSld>
  <p:clrMapOvr>
    <a:masterClrMapping/>
  </p:clrMapOvr>
  <p:transition spd="fast">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DOMAIN 1 · SECTION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live connections and extracts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Live</a:t>
            </a:r>
          </a:p>
          <a:p>
            <a:pPr algn="l">
              <a:spcAft>
                <a:spcPts val="300"/>
              </a:spcAft>
            </a:pPr>
            <a:r>
              <a:rPr sz="1200" b="0">
                <a:solidFill>
                  <a:srgbClr val="5B6372"/>
                </a:solidFill>
                <a:latin typeface="Arial"/>
              </a:rPr>
              <a:t>Queries the source as the view runs; current but dependent on source performance and availability.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Extract</a:t>
            </a:r>
          </a:p>
          <a:p>
            <a:pPr algn="l">
              <a:spcAft>
                <a:spcPts val="300"/>
              </a:spcAft>
            </a:pPr>
            <a:r>
              <a:rPr sz="1200" b="0">
                <a:solidFill>
                  <a:srgbClr val="5B6372"/>
                </a:solidFill>
                <a:latin typeface="Arial"/>
              </a:rPr>
              <a:t>A local .hyper snapshot optimised for analytics, portability and offline work.</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.TDS metadata</a:t>
            </a:r>
          </a:p>
          <a:p>
            <a:pPr algn="l">
              <a:spcAft>
                <a:spcPts val="300"/>
              </a:spcAft>
            </a:pPr>
            <a:r>
              <a:rPr sz="1200" b="0">
                <a:solidFill>
                  <a:srgbClr val="5B6372"/>
                </a:solidFill>
                <a:latin typeface="Arial"/>
              </a:rPr>
              <a:t>Stores connection and field metadata; .TDSX can package local dependencies.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Multiple connections</a:t>
            </a:r>
          </a:p>
          <a:p>
            <a:pPr algn="l">
              <a:spcAft>
                <a:spcPts val="300"/>
              </a:spcAft>
            </a:pPr>
            <a:r>
              <a:rPr sz="1200" b="0">
                <a:solidFill>
                  <a:srgbClr val="5B6372"/>
                </a:solidFill>
                <a:latin typeface="Arial"/>
              </a:rPr>
              <a:t>One Tableau data source can contain several connections and logical tables.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a:t>
            </a:r>
          </a:p>
        </p:txBody>
      </p:sp>
    </p:spTree>
  </p:cSld>
  <p:clrMapOvr>
    <a:masterClrMapping/>
  </p:clrMapOvr>
  <p:transition spd="fast">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Reasoning Pattern — Create live connections and extracts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Live</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Extract</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.TDS metadata</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Multiple connections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17</a:t>
            </a:r>
          </a:p>
        </p:txBody>
      </p:sp>
    </p:spTree>
  </p:cSld>
  <p:clrMapOvr>
    <a:masterClrMapping/>
  </p:clrMapOvr>
  <p:transition spd="fast">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1.1.1 · Create a live connection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live connection sends queries to the source during interaction.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source freshness and central governance matter.</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Current or real-time scenarios usually point to live.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Live is not automatically faster; network and query design still govern response time.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18</a:t>
            </a:r>
          </a:p>
        </p:txBody>
      </p:sp>
    </p:spTree>
  </p:cSld>
  <p:clrMapOvr>
    <a:masterClrMapping/>
  </p:clrMapOvr>
  <p:transition spd="fast">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1.1.2 · Live versus extract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The choice balances freshness, performance, portability and supported features.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an extract for offline analysis, acceleration or a stable reporting snapshot.</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Select the mode that serves the scenario's priority.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An extract becomes stale until refreshed; a live connection may still cache results.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19</a:t>
            </a:r>
          </a:p>
        </p:txBody>
      </p:sp>
    </p:spTree>
  </p:cSld>
  <p:clrMapOvr>
    <a:masterClrMapping/>
  </p:clrMapOvr>
  <p:transition spd="fast">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1.1.3 · Create and refresh an extract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An extract materialises selected data in Tableau's columnar .hyper format.</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Filter rows or columns when the complete source is unnecessary.</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Full refresh rebuilds; incremental refresh adds rows using a reliable key.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Incremental refresh does not update changed historical rows by itself.</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20</a:t>
            </a:r>
          </a:p>
        </p:txBody>
      </p:sp>
    </p:spTree>
  </p:cSld>
  <p:clrMapOvr>
    <a:masterClrMapping/>
  </p:clrMapOvr>
  <p:transition spd="fast">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1.1.4 · Save metadata in a .TDS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Tableau Data Source file stores connection details and field metadata.</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it to standardise names, aliases, roles, folders and calculations.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TDS contains metadata; TDSX packages metadata with local files or extracts.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Do not confuse a data source definition with a packaged workbook (.twbx).</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21</a:t>
            </a:r>
          </a:p>
        </p:txBody>
      </p:sp>
    </p:spTree>
  </p:cSld>
  <p:clrMapOvr>
    <a:masterClrMapping/>
  </p:clrMapOvr>
  <p:transition spd="fast">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1.1.5 · Use multiple connections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data source may combine file, database or published connections.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required tables do not reside in the same connection.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Connection is transport; data source is the analytical model exposed to sheets.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Cross-database joins can add query cost and connector limitations.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22</a:t>
            </a:r>
          </a:p>
        </p:txBody>
      </p:sp>
    </p:spTree>
  </p:cSld>
  <p:clrMapOvr>
    <a:masterClrMapping/>
  </p:clrMapOvr>
  <p:transition spd="fast">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DOMAIN 1 · SECTION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and manage the data model</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Relationships</a:t>
            </a:r>
          </a:p>
          <a:p>
            <a:pPr algn="l">
              <a:spcAft>
                <a:spcPts val="300"/>
              </a:spcAft>
            </a:pPr>
            <a:r>
              <a:rPr sz="1200" b="0">
                <a:solidFill>
                  <a:srgbClr val="5B6372"/>
                </a:solidFill>
                <a:latin typeface="Arial"/>
              </a:rPr>
              <a:t>Logical links evaluated at query time; preserve each table's level of detail.</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Joins</a:t>
            </a:r>
          </a:p>
          <a:p>
            <a:pPr algn="l">
              <a:spcAft>
                <a:spcPts val="300"/>
              </a:spcAft>
            </a:pPr>
            <a:r>
              <a:rPr sz="1200" b="0">
                <a:solidFill>
                  <a:srgbClr val="5B6372"/>
                </a:solidFill>
                <a:latin typeface="Arial"/>
              </a:rPr>
              <a:t>Physical row combination using matching clauses and a fixed join type.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Unions</a:t>
            </a:r>
          </a:p>
          <a:p>
            <a:pPr algn="l">
              <a:spcAft>
                <a:spcPts val="300"/>
              </a:spcAft>
            </a:pPr>
            <a:r>
              <a:rPr sz="1200" b="0">
                <a:solidFill>
                  <a:srgbClr val="5B6372"/>
                </a:solidFill>
                <a:latin typeface="Arial"/>
              </a:rPr>
              <a:t>Append rows from similarly structured tables; align fields by name and type.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Validation</a:t>
            </a:r>
          </a:p>
          <a:p>
            <a:pPr algn="l">
              <a:spcAft>
                <a:spcPts val="300"/>
              </a:spcAft>
            </a:pPr>
            <a:r>
              <a:rPr sz="1200" b="0">
                <a:solidFill>
                  <a:srgbClr val="5B6372"/>
                </a:solidFill>
                <a:latin typeface="Arial"/>
              </a:rPr>
              <a:t>Compare expected grain, row counts, unmatched keys and nulls before analysis.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23</a:t>
            </a:r>
          </a:p>
        </p:txBody>
      </p:sp>
    </p:spTree>
  </p:cSld>
  <p:clrMapOvr>
    <a:masterClrMapping/>
  </p:clrMapOvr>
  <p:transition spd="fast">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Create and manage the data model</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Relationships</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Joins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Unions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Validation</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24</a:t>
            </a:r>
          </a:p>
        </p:txBody>
      </p:sp>
    </p:spTree>
  </p:cSld>
  <p:clrMapOvr>
    <a:masterClrMapping/>
  </p:clrMapOvr>
  <p:transition spd="fast">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1.2.1 · Add relationships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Relationships describe how logical tables correspond without flattening first.</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multi-fact models or tables at different grains.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Tableau chooses context-aware joins and aggregation from fields in the view.</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Incorrect cardinality assumptions can produce unexpected results.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25</a:t>
            </a:r>
          </a:p>
        </p:txBody>
      </p:sp>
    </p:spTree>
  </p:cSld>
  <p:clrMapOvr>
    <a:masterClrMapping/>
  </p:clrMapOvr>
  <p:transition spd="fast">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1.2.2a · Add joins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join combines physical tables using matching clauses.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row-level control and one flattened table are required.</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Inner keeps matches; left preserves all left rows; right/full follow preservation logic.</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Many-to-many joins can multiply rows and inflate measures.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26</a:t>
            </a:r>
          </a:p>
        </p:txBody>
      </p:sp>
    </p:spTree>
  </p:cSld>
  <p:clrMapOvr>
    <a:masterClrMapping/>
  </p:clrMapOvr>
  <p:transition spd="fast">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1.2.2b · Add unions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union stacks records vertically from compatible tables.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monthly or regional files with the same columns.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Wildcard unions can include similarly named tables or files.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Mismatched names create separate columns until they are merged.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27</a:t>
            </a:r>
          </a:p>
        </p:txBody>
      </p:sp>
    </p:spTree>
  </p:cSld>
  <p:clrMapOvr>
    <a:masterClrMapping/>
  </p:clrMapOvr>
  <p:transition spd="fast">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1.2.3 · Choose join or relationship</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Relationships preserve independent grains; joins establish one physical grain.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Prefer relationships for flexible analysis; use joins for deliberate shaping.</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Different grains or duplicated measures usually favour relationships.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relationship line does not guarantee correct keys; validate it.</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28</a:t>
            </a:r>
          </a:p>
        </p:txBody>
      </p:sp>
    </p:spTree>
  </p:cSld>
  <p:clrMapOvr>
    <a:masterClrMapping/>
  </p:clrMapOvr>
  <p:transition spd="fast">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DOMAIN 1 · SECTION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Manage data properties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Semantic clarity</a:t>
            </a:r>
          </a:p>
          <a:p>
            <a:pPr algn="l">
              <a:spcAft>
                <a:spcPts val="300"/>
              </a:spcAft>
            </a:pPr>
            <a:r>
              <a:rPr sz="1200" b="0">
                <a:solidFill>
                  <a:srgbClr val="5B6372"/>
                </a:solidFill>
                <a:latin typeface="Arial"/>
              </a:rPr>
              <a:t>Rename columns and apply aliases so consumers understand the data.</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Correct type</a:t>
            </a:r>
          </a:p>
          <a:p>
            <a:pPr algn="l">
              <a:spcAft>
                <a:spcPts val="300"/>
              </a:spcAft>
            </a:pPr>
            <a:r>
              <a:rPr sz="1200" b="0">
                <a:solidFill>
                  <a:srgbClr val="5B6372"/>
                </a:solidFill>
                <a:latin typeface="Arial"/>
              </a:rPr>
              <a:t>Date, number, string and Boolean types determine available operations.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Geographic meaning</a:t>
            </a:r>
          </a:p>
          <a:p>
            <a:pPr algn="l">
              <a:spcAft>
                <a:spcPts val="300"/>
              </a:spcAft>
            </a:pPr>
            <a:r>
              <a:rPr sz="1200" b="0">
                <a:solidFill>
                  <a:srgbClr val="5B6372"/>
                </a:solidFill>
                <a:latin typeface="Arial"/>
              </a:rPr>
              <a:t>Roles such as Country and Postal Code enable generated coordinates.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Consistent defaults</a:t>
            </a:r>
          </a:p>
          <a:p>
            <a:pPr algn="l">
              <a:spcAft>
                <a:spcPts val="300"/>
              </a:spcAft>
            </a:pPr>
            <a:r>
              <a:rPr sz="1200" b="0">
                <a:solidFill>
                  <a:srgbClr val="5B6372"/>
                </a:solidFill>
                <a:latin typeface="Arial"/>
              </a:rPr>
              <a:t>Set aggregation, format, colour and date behaviour once for reuse.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29</a:t>
            </a:r>
          </a:p>
        </p:txBody>
      </p:sp>
    </p:spTree>
  </p:cSld>
  <p:clrMapOvr>
    <a:masterClrMapping/>
  </p:clrMapOvr>
  <p:transition spd="fast">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Manage data properties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Semantic clarity</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Correct type</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Geographic meaning</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Consistent defaults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30</a:t>
            </a:r>
          </a:p>
        </p:txBody>
      </p:sp>
    </p:spTree>
  </p:cSld>
  <p:clrMapOvr>
    <a:masterClrMapping/>
  </p:clrMapOvr>
  <p:transition spd="fast">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1.3.1 · Rename a field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caption can be business-friendly without changing the source column.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Replace codes or database naming conventions with clear language.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Renaming affects Tableau metadata, not the source system.</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Do not create ambiguous duplicate captions.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31</a:t>
            </a:r>
          </a:p>
        </p:txBody>
      </p:sp>
    </p:spTree>
  </p:cSld>
  <p:clrMapOvr>
    <a:masterClrMapping/>
  </p:clrMapOvr>
  <p:transition spd="fast">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1.3.2 · Assign aliases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Aliases replace displayed member labels while retaining original values.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abbreviations or coded categories.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Aliases apply to discrete dimension members.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Aliases do not cleanse the source value.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32</a:t>
            </a:r>
          </a:p>
        </p:txBody>
      </p:sp>
    </p:spTree>
  </p:cSld>
  <p:clrMapOvr>
    <a:masterClrMapping/>
  </p:clrMapOvr>
  <p:transition spd="fast">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1.3.3 · Assign geographic roles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geographic role tells Tableau how to geocode a field.</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country, state, city, postal code or custom location analysis.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Generated Latitude and Longitude appear after a valid role.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Ambiguous places need country or state context.</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33</a:t>
            </a:r>
          </a:p>
        </p:txBody>
      </p:sp>
    </p:spTree>
  </p:cSld>
  <p:clrMapOvr>
    <a:masterClrMapping/>
  </p:clrMapOvr>
  <p:transition spd="fast">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1.3.4 · Change a data type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The type defines valid operations, parsing and visual encodings.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Correct imported IDs, dates, decimals and Boolean indicators.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 calendar-looking string is not a date until parsed correctly.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Conversion can create nulls where values are invalid.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34</a:t>
            </a:r>
          </a:p>
        </p:txBody>
      </p:sp>
    </p:spTree>
  </p:cSld>
  <p:clrMapOvr>
    <a:masterClrMapping/>
  </p:clrMapOvr>
  <p:transition spd="fast">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1.3.5 · Set default properties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Defaults control aggregation, number/date format, colour and sort.</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a field should behave consistently on new sheets.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Default aggregation can still be changed in a view.</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Currency formatting does not convert currencies or units.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35</a:t>
            </a:r>
          </a:p>
        </p:txBody>
      </p:sp>
    </p:spTree>
  </p:cSld>
  <p:clrMapOvr>
    <a:masterClrMapping/>
  </p:clrMapOvr>
  <p:transition spd="fast">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DOMAIN 1 · SECTION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Cleanse data with Tableau Prep Builder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Flow, not clicks</a:t>
            </a:r>
          </a:p>
          <a:p>
            <a:pPr algn="l">
              <a:spcAft>
                <a:spcPts val="300"/>
              </a:spcAft>
            </a:pPr>
            <a:r>
              <a:rPr sz="1200" b="0">
                <a:solidFill>
                  <a:srgbClr val="5B6372"/>
                </a:solidFill>
                <a:latin typeface="Arial"/>
              </a:rPr>
              <a:t>A Prep flow is a repeatable, auditable pipeline of Input, Clean, Pivot, Union, Join, Aggregate and Output steps.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Profile before you fix</a:t>
            </a:r>
          </a:p>
          <a:p>
            <a:pPr algn="l">
              <a:spcAft>
                <a:spcPts val="300"/>
              </a:spcAft>
            </a:pPr>
            <a:r>
              <a:rPr sz="1200" b="0">
                <a:solidFill>
                  <a:srgbClr val="5B6372"/>
                </a:solidFill>
                <a:latin typeface="Arial"/>
              </a:rPr>
              <a:t>The profile pane exposes dirty types, outliers, nulls, duplicates and inconsistent members before any change.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Change list is the audit trail</a:t>
            </a:r>
          </a:p>
          <a:p>
            <a:pPr algn="l">
              <a:spcAft>
                <a:spcPts val="300"/>
              </a:spcAft>
            </a:pPr>
            <a:r>
              <a:rPr sz="1200" b="0">
                <a:solidFill>
                  <a:srgbClr val="5B6372"/>
                </a:solidFill>
                <a:latin typeface="Arial"/>
              </a:rPr>
              <a:t>Every cleaning action is recorded, reorderable and removable, so the flow stays reproducible.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Reshape for analysis</a:t>
            </a:r>
          </a:p>
          <a:p>
            <a:pPr algn="l">
              <a:spcAft>
                <a:spcPts val="300"/>
              </a:spcAft>
            </a:pPr>
            <a:r>
              <a:rPr sz="1200" b="0">
                <a:solidFill>
                  <a:srgbClr val="5B6372"/>
                </a:solidFill>
                <a:latin typeface="Arial"/>
              </a:rPr>
              <a:t>Pivot columns to rows for tidy time series; union files and join lookups to build one analysis-ready table.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36</a:t>
            </a:r>
          </a:p>
        </p:txBody>
      </p:sp>
    </p:spTree>
  </p:cSld>
  <p:clrMapOvr>
    <a:masterClrMapping/>
  </p:clrMapOvr>
  <p:transition spd="fast">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Reasoning Pattern — Cleanse data with Tableau Prep Builder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Flow, not clicks</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Profile before you fix</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Change list is the audit trail</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Reshape for analysis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37</a:t>
            </a:r>
          </a:p>
        </p:txBody>
      </p:sp>
    </p:spTree>
  </p:cSld>
  <p:clrMapOvr>
    <a:masterClrMapping/>
  </p:clrMapOvr>
  <p:transition spd="fast">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1.4.1 · Connect a Prep input and use the Data Interpreter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Input steps bring in Excel, CSV, database and published sources; the Data Interpreter strips titles, notes and blank banding.</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spreadsheets carry cosmetic headers or merged title rows above the real table.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The input step is where sampling, field removal and input-level filters are set.</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Interpreting an already-clean sheet can drop legitimate header rows; always review the result.</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38</a:t>
            </a:r>
          </a:p>
        </p:txBody>
      </p:sp>
    </p:spTree>
  </p:cSld>
  <p:clrMapOvr>
    <a:masterClrMapping/>
  </p:clrMapOvr>
  <p:transition spd="fast">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1.4.2 · Add a Clean step and read the profile pane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The Clean step profiles each field, showing value distribution, nulls and outliers.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it first to see what is actually wrong before deciding on fixes.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Clicking a profile bar filters the data grid to those records.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Judging quality from the data grid alone hides the distribution problems the profile reveals.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39</a:t>
            </a:r>
          </a:p>
        </p:txBody>
      </p:sp>
    </p:spTree>
  </p:cSld>
  <p:clrMapOvr>
    <a:masterClrMapping/>
  </p:clrMapOvr>
  <p:transition spd="fast">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1.4.3 · Fix data types and repair non-numeric text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Currency, thousands separators and stray characters block numeric conversion.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a calculated field such as a REPLACE to strip commas before changing the type.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 field that refuses to become a number usually contains punctuation or spaces.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Converting directly to a number silently produces nulls where parsing fails.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40</a:t>
            </a:r>
          </a:p>
        </p:txBody>
      </p:sp>
    </p:spTree>
  </p:cSld>
  <p:clrMapOvr>
    <a:masterClrMapping/>
  </p:clrMapOvr>
  <p:transition spd="fast">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1.4.4 · Apply cleaning operations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Prep offers Remove Letters, Remove Numbers, Remove Punctuation, Trim Spaces, Remove Extra Spaces and case conversion.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normalise names, codes and free-text categories.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Remove Extra Spaces collapses repeats; Remove All Spaces deletes every space.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Removing all spaces destroys multi-word names that still need to be readable.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41</a:t>
            </a:r>
          </a:p>
        </p:txBody>
      </p:sp>
    </p:spTree>
  </p:cSld>
  <p:clrMapOvr>
    <a:masterClrMapping/>
  </p:clrMapOvr>
  <p:transition spd="fast">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1.4.5 · Split fields automatically and manually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Automatic split infers a separator; custom split specifies the delimiter and number of columns.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separate names, codes, dates or concatenated attributes.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Split creates new fields; the original is usually removed afterwards.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An inferred split breaks when the separator is inconsistent across rows.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42</a:t>
            </a:r>
          </a:p>
        </p:txBody>
      </p:sp>
    </p:spTree>
  </p:cSld>
  <p:clrMapOvr>
    <a:masterClrMapping/>
  </p:clrMapOvr>
  <p:transition spd="fast">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1.4.6 · Filter and handle nulls and duplicates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Filters can be by value, wildcard, range, calculation or null status; duplicates are found by profiling the row key.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exclude test rows, negative sales, out-of-scope regions and empty keys.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Keep Only and Exclude are the fastest filters directly from the profile.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Filtering away nulls can silently drop valid records that merely lack one attribute.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43</a:t>
            </a:r>
          </a:p>
        </p:txBody>
      </p:sp>
    </p:spTree>
  </p:cSld>
  <p:clrMapOvr>
    <a:masterClrMapping/>
  </p:clrMapOvr>
  <p:transition spd="fast">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1.4.7 · Group and Replace to standardise members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Group and Replace merges variants using manual selection, pronunciation, common characters or spelling similarity.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misspelt city, product or customer names that should be one member.</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Fuzzy matching proposes groups; the analyst confirms them.</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Aggressive fuzzy matching can merge genuinely different members.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44</a:t>
            </a:r>
          </a:p>
        </p:txBody>
      </p:sp>
    </p:spTree>
  </p:cSld>
  <p:clrMapOvr>
    <a:masterClrMapping/>
  </p:clrMapOvr>
  <p:transition spd="fast">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1.4.8 · Pivot columns to rows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Pivot step converts wide month or category columns into a tidy field-and-value pair.</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each period sits in its own column instead of its own row.</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Pivoted output creates one row per original column value.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Leaving data wide forces one calculation per column and breaks date logic.</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45</a:t>
            </a:r>
          </a:p>
        </p:txBody>
      </p:sp>
    </p:spTree>
  </p:cSld>
  <p:clrMapOvr>
    <a:masterClrMapping/>
  </p:clrMapOvr>
  <p:transition spd="fast">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1.4.9 · Union, join and aggregate in a flow</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Union appends compatible files; Join matches on keys; Aggregate rolls rows to a coarser grain.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combine monthly or country files and attach lookup attributes.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Mismatched field names appear in the union as separate columns until merged.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join in Prep multiplies rows the same way a join in Desktop does.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46</a:t>
            </a:r>
          </a:p>
        </p:txBody>
      </p:sp>
    </p:spTree>
  </p:cSld>
  <p:clrMapOvr>
    <a:masterClrMapping/>
  </p:clrMapOvr>
  <p:transition spd="fast">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OFFICIAL OBJECTIVE · DOMAIN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1.4.10 · Create calculated fields and output the flow</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Prep calculations derive new columns; Output writes a CSV, Excel, .hyper extract or published data source.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compute derived measures and publish a governed, refreshable clean table.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Running the flow re-executes every step in order against current input.</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Outputting without re-running the flow ships stale results.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47</a:t>
            </a:r>
          </a:p>
        </p:txBody>
      </p:sp>
    </p:spTree>
  </p:cSld>
  <p:clrMapOvr>
    <a:masterClrMapping/>
  </p:clrMapOvr>
  <p:transition spd="fast">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01 · TOPIC 01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Audit a Retail Sales Connection and Extract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Northstar Retail needs a trustworthy weekly sales source before analysts build regional reporting.</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Connect workbook</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Audit types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Set roles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Create extract</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Validate refresh</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validated Tableau data source, field-role audit, live/extract decision and refreshed .hyper extract</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Excel · live connection · extract · metadata</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48</a:t>
            </a:r>
          </a:p>
        </p:txBody>
      </p:sp>
    </p:spTree>
  </p:cSld>
  <p:clrMapOvr>
    <a:masterClrMapping/>
  </p:clrMapOvr>
  <p:transition spd="fast">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01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The source has the expected row count and date range, geographic fields are recognised, currency/percentage defaults are correct, and the extract refreshes without errors.</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49</a:t>
            </a:r>
          </a:p>
        </p:txBody>
      </p:sp>
    </p:spTree>
  </p:cSld>
  <p:clrMapOvr>
    <a:masterClrMapping/>
  </p:clrMapOvr>
  <p:transition spd="fast">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02 · TOPIC 01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Model Orders, Returns, Products and Targets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GreenBasket Grocers wants sales, returns and monthly targets analysed without duplicating measures across different table grains.</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Inspect grains</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Relate tables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Validate keys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Compare join</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Prove totals</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four-table logical model with validated cardinality, unmatched-key checks and a join-risk comparison</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relationships · joins · referential integrity · grain validation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50</a:t>
            </a:r>
          </a:p>
        </p:txBody>
      </p:sp>
    </p:spTree>
  </p:cSld>
  <p:clrMapOvr>
    <a:masterClrMapping/>
  </p:clrMapOvr>
  <p:transition spd="fast">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02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Sales matches the control total, Return Count matches the Returns table, targets do not duplicate, and the learner can explain why relationships are safer for the mixed-grain model.</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51</a:t>
            </a:r>
          </a:p>
        </p:txBody>
      </p:sp>
    </p:spTree>
  </p:cSld>
  <p:clrMapOvr>
    <a:masterClrMapping/>
  </p:clrMapOvr>
  <p:transition spd="fast">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03 · TOPIC 01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Union Monthly Files and Join Store Attributes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MetroMart receives separate monthly transaction tabs plus a store master and needs one analysis-ready source.</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Union months</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Inspect mismatch</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Merge fields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Join stores</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Save metadata</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three-month union with provenance fields, merged columns, a validated store join and saved data-source metadata</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unions · wildcard patterns · joins · aliases · .tds/.tdsx</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52</a:t>
            </a:r>
          </a:p>
        </p:txBody>
      </p:sp>
    </p:spTree>
  </p:cSld>
  <p:clrMapOvr>
    <a:masterClrMapping/>
  </p:clrMapOvr>
  <p:transition spd="fast">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03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All three months appear, merged sales has no avoidable nulls, record counts match Control, the left join preserves transactions, and the saved source opens with metadata intact.</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53</a:t>
            </a:r>
          </a:p>
        </p:txBody>
      </p:sp>
    </p:spTree>
  </p:cSld>
  <p:clrMapOvr>
    <a:masterClrMapping/>
  </p:clrMapOvr>
  <p:transition spd="fast">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11 · TOPIC 01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Cleanse a Messy Sales Extract with Tableau Prep Builder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Harbourfront Trading exports raw transactions with currency text, inconsistent city spellings, split name fields, duplicate rows and wide monthly budget columns. Analysts need one governed, refreshable clean table before any Tableau Desktop analysis.</a:t>
            </a:r>
          </a:p>
        </p:txBody>
      </p:sp>
      <p:sp>
        <p:nvSpPr>
          <p:cNvPr id="9" name="Rectangle 8"/>
          <p:cNvSpPr/>
          <p:nvPr/>
        </p:nvSpPr>
        <p:spPr>
          <a:xfrm>
            <a:off x="777240"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6383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Profile input</a:t>
            </a:r>
          </a:p>
        </p:txBody>
      </p:sp>
      <p:sp>
        <p:nvSpPr>
          <p:cNvPr id="12" name="Rectangle 11"/>
          <p:cNvSpPr/>
          <p:nvPr/>
        </p:nvSpPr>
        <p:spPr>
          <a:xfrm>
            <a:off x="2580132"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80132" y="2788920"/>
            <a:ext cx="16383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71572"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Fix types</a:t>
            </a:r>
          </a:p>
        </p:txBody>
      </p:sp>
      <p:sp>
        <p:nvSpPr>
          <p:cNvPr id="15" name="Rectangle 14"/>
          <p:cNvSpPr/>
          <p:nvPr/>
        </p:nvSpPr>
        <p:spPr>
          <a:xfrm>
            <a:off x="4383024"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3024" y="2788920"/>
            <a:ext cx="16383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4463"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Clean and split</a:t>
            </a:r>
          </a:p>
        </p:txBody>
      </p:sp>
      <p:sp>
        <p:nvSpPr>
          <p:cNvPr id="18" name="Rectangle 17"/>
          <p:cNvSpPr/>
          <p:nvPr/>
        </p:nvSpPr>
        <p:spPr>
          <a:xfrm>
            <a:off x="6185916"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5916" y="2788920"/>
            <a:ext cx="163830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7355"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Group members</a:t>
            </a:r>
          </a:p>
        </p:txBody>
      </p:sp>
      <p:sp>
        <p:nvSpPr>
          <p:cNvPr id="21" name="Rectangle 20"/>
          <p:cNvSpPr/>
          <p:nvPr/>
        </p:nvSpPr>
        <p:spPr>
          <a:xfrm>
            <a:off x="7988808"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88808" y="2788920"/>
            <a:ext cx="163830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80247"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Pivot and join</a:t>
            </a:r>
          </a:p>
        </p:txBody>
      </p:sp>
      <p:sp>
        <p:nvSpPr>
          <p:cNvPr id="24" name="Rectangle 23"/>
          <p:cNvSpPr/>
          <p:nvPr/>
        </p:nvSpPr>
        <p:spPr>
          <a:xfrm>
            <a:off x="9791700" y="2788920"/>
            <a:ext cx="163830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91700" y="2788920"/>
            <a:ext cx="163830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83140" y="2971800"/>
            <a:ext cx="1455420"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6. Output flow</a:t>
            </a:r>
          </a:p>
        </p:txBody>
      </p:sp>
      <p:sp>
        <p:nvSpPr>
          <p:cNvPr id="27" name="Rectangle 26"/>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saved Tableau Prep flow (.tfl) with Input, Clean, Split, Group and Replace, Pivot, Union, Join and Output steps, plus a cleaned .hyper or CSV output and a documented change list</a:t>
            </a:r>
          </a:p>
        </p:txBody>
      </p:sp>
      <p:sp>
        <p:nvSpPr>
          <p:cNvPr id="29" name="TextBox 28"/>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Prep Builder · profile pane · clean step · split · group and replace · pivot · union · join · output</a:t>
            </a:r>
          </a:p>
        </p:txBody>
      </p:sp>
      <p:sp>
        <p:nvSpPr>
          <p:cNvPr id="30" name="TextBox 29"/>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1" name="TextBox 30"/>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2" name="TextBox 31"/>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54</a:t>
            </a:r>
          </a:p>
        </p:txBody>
      </p:sp>
    </p:spTree>
  </p:cSld>
  <p:clrMapOvr>
    <a:masterClrMapping/>
  </p:clrMapOvr>
  <p:transition spd="fast">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11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The flow runs end to end without errors; Price Paid is numeric, duplicates and invalid rows are removed, city members are standardised, budgets are pivoted long, the union has no avoidable nulls, the join does not multiply rows, and the output reconciles to the Control sheet.</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55</a:t>
            </a:r>
          </a:p>
        </p:txBody>
      </p:sp>
    </p:spTree>
  </p:cSld>
  <p:clrMapOvr>
    <a:masterClrMapping/>
  </p:clrMapOvr>
  <p:transition spd="fast">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RECAP</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01 — Exam Check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Explain</a:t>
            </a:r>
          </a:p>
          <a:p>
            <a:pPr algn="l">
              <a:spcAft>
                <a:spcPts val="300"/>
              </a:spcAft>
            </a:pPr>
            <a:r>
              <a:rPr sz="1200" b="0">
                <a:solidFill>
                  <a:srgbClr val="5B6372"/>
                </a:solidFill>
                <a:latin typeface="Arial"/>
              </a:rPr>
              <a:t>Define the key ideas in connecting to and preparing data in tableau desktop.</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Choose</a:t>
            </a:r>
          </a:p>
          <a:p>
            <a:pPr algn="l">
              <a:spcAft>
                <a:spcPts val="300"/>
              </a:spcAft>
            </a:pPr>
            <a:r>
              <a:rPr sz="1200" b="0">
                <a:solidFill>
                  <a:srgbClr val="5B6372"/>
                </a:solidFill>
                <a:latin typeface="Arial"/>
              </a:rPr>
              <a:t>Select the right feature from a short business scenario.</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Predict</a:t>
            </a:r>
          </a:p>
          <a:p>
            <a:pPr algn="l">
              <a:spcAft>
                <a:spcPts val="300"/>
              </a:spcAft>
            </a:pPr>
            <a:r>
              <a:rPr sz="1200" b="0">
                <a:solidFill>
                  <a:srgbClr val="5B6372"/>
                </a:solidFill>
                <a:latin typeface="Arial"/>
              </a:rPr>
              <a:t>Reason about the result of shelf, model or formatting changes.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Prove</a:t>
            </a:r>
          </a:p>
          <a:p>
            <a:pPr algn="l">
              <a:spcAft>
                <a:spcPts val="300"/>
              </a:spcAft>
            </a:pPr>
            <a:r>
              <a:rPr sz="1200" b="0">
                <a:solidFill>
                  <a:srgbClr val="5B6372"/>
                </a:solidFill>
                <a:latin typeface="Arial"/>
              </a:rPr>
              <a:t>Use the lab workbook and acceptance evidence to validate the outcome.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56</a:t>
            </a:r>
          </a:p>
        </p:txBody>
      </p:sp>
    </p:spTree>
  </p:cSld>
  <p:clrMapOvr>
    <a:masterClrMapping/>
  </p:clrMapOvr>
  <p:transition spd="fast">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TOPIC 02</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Exploring and Analyzing Data in Tableau Desktop</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Official exam weighting 37% · Charts · groups · sets · hierarchies · filters · analytics · calculations</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02</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57</a:t>
            </a:r>
          </a:p>
        </p:txBody>
      </p:sp>
    </p:spTree>
  </p:cSld>
  <p:clrMapOvr>
    <a:masterClrMapping/>
  </p:clrMapOvr>
  <p:transition spd="fast">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EXAM WEIGHTING 37%</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02 — Core Ideas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Question before chart</a:t>
            </a:r>
          </a:p>
          <a:p>
            <a:pPr algn="l">
              <a:spcAft>
                <a:spcPts val="300"/>
              </a:spcAft>
            </a:pPr>
            <a:r>
              <a:rPr sz="1200" b="0">
                <a:solidFill>
                  <a:srgbClr val="5B6372"/>
                </a:solidFill>
                <a:latin typeface="Arial"/>
              </a:rPr>
              <a:t>Bars compare, lines show time, scatterplots show relationships and maps show location.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Structure narrows meaning</a:t>
            </a:r>
          </a:p>
          <a:p>
            <a:pPr algn="l">
              <a:spcAft>
                <a:spcPts val="300"/>
              </a:spcAft>
            </a:pPr>
            <a:r>
              <a:rPr sz="1200" b="0">
                <a:solidFill>
                  <a:srgbClr val="5B6372"/>
                </a:solidFill>
                <a:latin typeface="Arial"/>
              </a:rPr>
              <a:t>Groups, sets, hierarchies, sorts and filters determine the population compared.</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Analytics adds context</a:t>
            </a:r>
          </a:p>
          <a:p>
            <a:pPr algn="l">
              <a:spcAft>
                <a:spcPts val="300"/>
              </a:spcAft>
            </a:pPr>
            <a:r>
              <a:rPr sz="1200" b="0">
                <a:solidFill>
                  <a:srgbClr val="5B6372"/>
                </a:solidFill>
                <a:latin typeface="Arial"/>
              </a:rPr>
              <a:t>Lines, totals, bins, calculations and parameters turn marks into evidence.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Order matters</a:t>
            </a:r>
          </a:p>
          <a:p>
            <a:pPr algn="l">
              <a:spcAft>
                <a:spcPts val="300"/>
              </a:spcAft>
            </a:pPr>
            <a:r>
              <a:rPr sz="1200" b="0">
                <a:solidFill>
                  <a:srgbClr val="5B6372"/>
                </a:solidFill>
                <a:latin typeface="Arial"/>
              </a:rPr>
              <a:t>Context, dimension, measure and table-calculation filters execute at different stages.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58</a:t>
            </a:r>
          </a:p>
        </p:txBody>
      </p:sp>
    </p:spTree>
  </p:cSld>
  <p:clrMapOvr>
    <a:masterClrMapping/>
  </p:clrMapOvr>
  <p:transition spd="fast">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SCOPE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02 Blueprint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10858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 group</a:t>
            </a:r>
          </a:p>
        </p:txBody>
      </p:sp>
      <p:sp>
        <p:nvSpPr>
          <p:cNvPr id="9" name="Rectangle 8"/>
          <p:cNvSpPr/>
          <p:nvPr/>
        </p:nvSpPr>
        <p:spPr>
          <a:xfrm>
            <a:off x="4319016" y="1783080"/>
            <a:ext cx="3550920" cy="10858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Codes</a:t>
            </a:r>
          </a:p>
        </p:txBody>
      </p:sp>
      <p:sp>
        <p:nvSpPr>
          <p:cNvPr id="11" name="Rectangle 10"/>
          <p:cNvSpPr/>
          <p:nvPr/>
        </p:nvSpPr>
        <p:spPr>
          <a:xfrm>
            <a:off x="7869936" y="1783080"/>
            <a:ext cx="3550920" cy="108585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Objectives</a:t>
            </a:r>
          </a:p>
        </p:txBody>
      </p:sp>
      <p:sp>
        <p:nvSpPr>
          <p:cNvPr id="13" name="Rectangle 12"/>
          <p:cNvSpPr/>
          <p:nvPr/>
        </p:nvSpPr>
        <p:spPr>
          <a:xfrm>
            <a:off x="76809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72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Create basic charts</a:t>
            </a:r>
          </a:p>
        </p:txBody>
      </p:sp>
      <p:sp>
        <p:nvSpPr>
          <p:cNvPr id="15" name="Rectangle 14"/>
          <p:cNvSpPr/>
          <p:nvPr/>
        </p:nvSpPr>
        <p:spPr>
          <a:xfrm>
            <a:off x="431901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2.1.1–2.1.9</a:t>
            </a:r>
          </a:p>
        </p:txBody>
      </p:sp>
      <p:sp>
        <p:nvSpPr>
          <p:cNvPr id="17" name="Rectangle 16"/>
          <p:cNvSpPr/>
          <p:nvPr/>
        </p:nvSpPr>
        <p:spPr>
          <a:xfrm>
            <a:off x="786993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9</a:t>
            </a:r>
          </a:p>
        </p:txBody>
      </p:sp>
      <p:sp>
        <p:nvSpPr>
          <p:cNvPr id="19" name="Rectangle 18"/>
          <p:cNvSpPr/>
          <p:nvPr/>
        </p:nvSpPr>
        <p:spPr>
          <a:xfrm>
            <a:off x="76809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7306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Organise data and apply filters</a:t>
            </a:r>
          </a:p>
        </p:txBody>
      </p:sp>
      <p:sp>
        <p:nvSpPr>
          <p:cNvPr id="21" name="Rectangle 20"/>
          <p:cNvSpPr/>
          <p:nvPr/>
        </p:nvSpPr>
        <p:spPr>
          <a:xfrm>
            <a:off x="431901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2.2.1–2.2.5</a:t>
            </a:r>
          </a:p>
        </p:txBody>
      </p:sp>
      <p:sp>
        <p:nvSpPr>
          <p:cNvPr id="23" name="Rectangle 22"/>
          <p:cNvSpPr/>
          <p:nvPr/>
        </p:nvSpPr>
        <p:spPr>
          <a:xfrm>
            <a:off x="786993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5</a:t>
            </a:r>
          </a:p>
        </p:txBody>
      </p:sp>
      <p:sp>
        <p:nvSpPr>
          <p:cNvPr id="25" name="Rectangle 24"/>
          <p:cNvSpPr/>
          <p:nvPr/>
        </p:nvSpPr>
        <p:spPr>
          <a:xfrm>
            <a:off x="76809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0589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Apply analytics to a worksheet</a:t>
            </a:r>
          </a:p>
        </p:txBody>
      </p:sp>
      <p:sp>
        <p:nvSpPr>
          <p:cNvPr id="27" name="Rectangle 26"/>
          <p:cNvSpPr/>
          <p:nvPr/>
        </p:nvSpPr>
        <p:spPr>
          <a:xfrm>
            <a:off x="431901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2.3.1–2.3.7</a:t>
            </a:r>
          </a:p>
        </p:txBody>
      </p:sp>
      <p:sp>
        <p:nvSpPr>
          <p:cNvPr id="29" name="Rectangle 28"/>
          <p:cNvSpPr/>
          <p:nvPr/>
        </p:nvSpPr>
        <p:spPr>
          <a:xfrm>
            <a:off x="786993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7</a:t>
            </a:r>
          </a:p>
        </p:txBody>
      </p:sp>
      <p:sp>
        <p:nvSpPr>
          <p:cNvPr id="31" name="TextBox 3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2" name="TextBox 3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3" name="TextBox 3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59</a:t>
            </a:r>
          </a:p>
        </p:txBody>
      </p:sp>
    </p:spTree>
  </p:cSld>
  <p:clrMapOvr>
    <a:masterClrMapping/>
  </p:clrMapOvr>
  <p:transition spd="fast">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EDITABLE POWERPOINT CHART · LAB PATTERN</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Synthetic Monthly Sales and Profit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914400" y="1828800"/>
          <a:ext cx="10332720" cy="3886200"/>
        </p:xfrm>
        <a:graphic>
          <a:graphicData uri="http://schemas.openxmlformats.org/drawingml/2006/chart">
            <c:chart xmlns:c="http://schemas.openxmlformats.org/drawingml/2006/chart" r:id="rId2"/>
          </a:graphicData>
        </a:graphic>
      </p:graphicFrame>
      <p:sp>
        <p:nvSpPr>
          <p:cNvPr id="8" name="TextBox 7"/>
          <p:cNvSpPr txBox="1"/>
          <p:nvPr/>
        </p:nvSpPr>
        <p:spPr>
          <a:xfrm>
            <a:off x="914400" y="5760720"/>
            <a:ext cx="10241280" cy="411480"/>
          </a:xfrm>
          <a:prstGeom prst="rect">
            <a:avLst/>
          </a:prstGeom>
          <a:noFill/>
        </p:spPr>
        <p:txBody>
          <a:bodyPr wrap="square" anchor="t" lIns="54864" rIns="54864" tIns="54864" bIns="54864">
            <a:spAutoFit/>
          </a:bodyPr>
          <a:lstStyle/>
          <a:p>
            <a:pPr algn="ctr">
              <a:spcAft>
                <a:spcPts val="300"/>
              </a:spcAft>
            </a:pPr>
            <a:r>
              <a:rPr sz="1150" b="0">
                <a:solidFill>
                  <a:srgbClr val="5B6372"/>
                </a:solidFill>
                <a:latin typeface="Arial"/>
              </a:rPr>
              <a:t>Synthetic SGD thousands — the chart demonstrates trend selection, not a real company result.</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60</a:t>
            </a:r>
          </a:p>
        </p:txBody>
      </p:sp>
    </p:spTree>
  </p:cSld>
  <p:clrMapOvr>
    <a:masterClrMapping/>
  </p:clrMapOvr>
  <p:transition spd="fast">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DOMAIN 2 · SECTION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basic charts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Comparison</a:t>
            </a:r>
          </a:p>
          <a:p>
            <a:pPr algn="l">
              <a:spcAft>
                <a:spcPts val="300"/>
              </a:spcAft>
            </a:pPr>
            <a:r>
              <a:rPr sz="1200" b="0">
                <a:solidFill>
                  <a:srgbClr val="5B6372"/>
                </a:solidFill>
                <a:latin typeface="Arial"/>
              </a:rPr>
              <a:t>Bars and crosstabs expose magnitude and exact values.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Trend</a:t>
            </a:r>
          </a:p>
          <a:p>
            <a:pPr algn="l">
              <a:spcAft>
                <a:spcPts val="300"/>
              </a:spcAft>
            </a:pPr>
            <a:r>
              <a:rPr sz="1200" b="0">
                <a:solidFill>
                  <a:srgbClr val="5B6372"/>
                </a:solidFill>
                <a:latin typeface="Arial"/>
              </a:rPr>
              <a:t>Lines show change across ordered time; continuous dates create axes.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Relationship</a:t>
            </a:r>
          </a:p>
          <a:p>
            <a:pPr algn="l">
              <a:spcAft>
                <a:spcPts val="300"/>
              </a:spcAft>
            </a:pPr>
            <a:r>
              <a:rPr sz="1200" b="0">
                <a:solidFill>
                  <a:srgbClr val="5B6372"/>
                </a:solidFill>
                <a:latin typeface="Arial"/>
              </a:rPr>
              <a:t>Scatterplots reveal association, clusters and outliers.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Geography</a:t>
            </a:r>
          </a:p>
          <a:p>
            <a:pPr algn="l">
              <a:spcAft>
                <a:spcPts val="300"/>
              </a:spcAft>
            </a:pPr>
            <a:r>
              <a:rPr sz="1200" b="0">
                <a:solidFill>
                  <a:srgbClr val="5B6372"/>
                </a:solidFill>
                <a:latin typeface="Arial"/>
              </a:rPr>
              <a:t>Symbol, filled and density maps answer different spatial questions.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61</a:t>
            </a:r>
          </a:p>
        </p:txBody>
      </p:sp>
    </p:spTree>
  </p:cSld>
  <p:clrMapOvr>
    <a:masterClrMapping/>
  </p:clrMapOvr>
  <p:transition spd="fast">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Create basic charts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Comparison</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Trend</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Relationship</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Geography</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62</a:t>
            </a:r>
          </a:p>
        </p:txBody>
      </p:sp>
    </p:spTree>
  </p:cSld>
  <p:clrMapOvr>
    <a:masterClrMapping/>
  </p:clrMapOvr>
  <p:transition spd="fast">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2.1.1 · Create a bar chart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Bars encode magnitude by length along a common baseline.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ranking and comparing categories.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One dimension plus one measure is the canonical pattern.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Avoid 3-D effects, too many categories and unsorted ranking views.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63</a:t>
            </a:r>
          </a:p>
        </p:txBody>
      </p:sp>
    </p:spTree>
  </p:cSld>
  <p:clrMapOvr>
    <a:masterClrMapping/>
  </p:clrMapOvr>
  <p:transition spd="fast">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2.1.2 · Create a line chart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Lines connect ordered points to emphasise change over time.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trends, seasonality and rate of change.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Continuous dates form axes; discrete date parts form headers.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Do not connect unrelated categories as a sequence.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64</a:t>
            </a:r>
          </a:p>
        </p:txBody>
      </p:sp>
    </p:spTree>
  </p:cSld>
  <p:clrMapOvr>
    <a:masterClrMapping/>
  </p:clrMapOvr>
  <p:transition spd="fast">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2.1.3 · Create a scatterplot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Two quantitative axes show the relationship between measures.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assess correlation, clusters and outliers.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Add a dimension to Detail for one mark per entity.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Aggregation may collapse records into one mark.</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65</a:t>
            </a:r>
          </a:p>
        </p:txBody>
      </p:sp>
    </p:spTree>
  </p:cSld>
  <p:clrMapOvr>
    <a:masterClrMapping/>
  </p:clrMapOvr>
  <p:transition spd="fast">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2.1.4 · Create a map</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Geographic fields generate spatial marks using Tableau geocoding.</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location contributes to the question.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Symbols compare points; fills compare areas; density shows concentration.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bar chart is more accurate when geography adds no meaning.</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66</a:t>
            </a:r>
          </a:p>
        </p:txBody>
      </p:sp>
    </p:spTree>
  </p:cSld>
  <p:clrMapOvr>
    <a:masterClrMapping/>
  </p:clrMapOvr>
  <p:transition spd="fast">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2.1.5 · Create a combined-axis chart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Multiple measures share one axis and Marks card.</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compatible units should be compared directly.</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Measure Values and Measure Names are common building blocks.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Different units on one axis mislead.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67</a:t>
            </a:r>
          </a:p>
        </p:txBody>
      </p:sp>
    </p:spTree>
  </p:cSld>
  <p:clrMapOvr>
    <a:masterClrMapping/>
  </p:clrMapOvr>
  <p:transition spd="fast">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2.1.6 · Create a dual-axis chart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Two measures use independent axes with separate Marks cards.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layer related measures with different scales or mark types.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Synchronise axes when measures share units.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Unsynchronised axes can imply artificial relationships.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68</a:t>
            </a:r>
          </a:p>
        </p:txBody>
      </p:sp>
    </p:spTree>
  </p:cSld>
  <p:clrMapOvr>
    <a:masterClrMapping/>
  </p:clrMapOvr>
  <p:transition spd="fast">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2.1.7 · Create a stacked bar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Segments divide each bar into contributions to a total.</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composition plus total comparison.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Colour defines the stack.</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Middle segments lack a common baseline.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69</a:t>
            </a:r>
          </a:p>
        </p:txBody>
      </p:sp>
    </p:spTree>
  </p:cSld>
  <p:clrMapOvr>
    <a:masterClrMapping/>
  </p:clrMapOvr>
  <p:transition spd="fast">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2.1.8 · Create a density map</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Overlapping points become a smooth concentration surface.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where hotspots matter more than individual points.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Intensity reflects local concentration and optional weighting.</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Sparse data or smoothing can manufacture hotspots.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70</a:t>
            </a:r>
          </a:p>
        </p:txBody>
      </p:sp>
    </p:spTree>
  </p:cSld>
  <p:clrMapOvr>
    <a:masterClrMapping/>
  </p:clrMapOvr>
  <p:transition spd="fast">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2.1.9 · Crosstab and highlight table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Text tables show exact values; colour adds pattern detection.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lookup precision plus comparative scanning.</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Measure Names and Measure Values can present several KPIs.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Too many cells overwhelm; filter and use meaningful scales.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71</a:t>
            </a:r>
          </a:p>
        </p:txBody>
      </p:sp>
    </p:spTree>
  </p:cSld>
  <p:clrMapOvr>
    <a:masterClrMapping/>
  </p:clrMapOvr>
  <p:transition spd="fast">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DOMAIN 2 · SECTION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Organise data and apply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Groups</a:t>
            </a:r>
          </a:p>
          <a:p>
            <a:pPr algn="l">
              <a:spcAft>
                <a:spcPts val="300"/>
              </a:spcAft>
            </a:pPr>
            <a:r>
              <a:rPr sz="1200" b="0">
                <a:solidFill>
                  <a:srgbClr val="5B6372"/>
                </a:solidFill>
                <a:latin typeface="Arial"/>
              </a:rPr>
              <a:t>Combine members into a new categorical field.</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Sets</a:t>
            </a:r>
          </a:p>
          <a:p>
            <a:pPr algn="l">
              <a:spcAft>
                <a:spcPts val="300"/>
              </a:spcAft>
            </a:pPr>
            <a:r>
              <a:rPr sz="1200" b="0">
                <a:solidFill>
                  <a:srgbClr val="5B6372"/>
                </a:solidFill>
                <a:latin typeface="Arial"/>
              </a:rPr>
              <a:t>Define an IN/OUT subset that can be dynamic or combined.</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Hierarchies</a:t>
            </a:r>
          </a:p>
          <a:p>
            <a:pPr algn="l">
              <a:spcAft>
                <a:spcPts val="300"/>
              </a:spcAft>
            </a:pPr>
            <a:r>
              <a:rPr sz="1200" b="0">
                <a:solidFill>
                  <a:srgbClr val="5B6372"/>
                </a:solidFill>
                <a:latin typeface="Arial"/>
              </a:rPr>
              <a:t>Provide a drill path from broad to detailed dimensions.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Filters</a:t>
            </a:r>
          </a:p>
          <a:p>
            <a:pPr algn="l">
              <a:spcAft>
                <a:spcPts val="300"/>
              </a:spcAft>
            </a:pPr>
            <a:r>
              <a:rPr sz="1200" b="0">
                <a:solidFill>
                  <a:srgbClr val="5B6372"/>
                </a:solidFill>
                <a:latin typeface="Arial"/>
              </a:rPr>
              <a:t>Control which records or aggregated marks remain.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72</a:t>
            </a:r>
          </a:p>
        </p:txBody>
      </p:sp>
    </p:spTree>
  </p:cSld>
  <p:clrMapOvr>
    <a:masterClrMapping/>
  </p:clrMapOvr>
  <p:transition spd="fast">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Organise data and apply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Groups</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Sets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Hierarchies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Filters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73</a:t>
            </a:r>
          </a:p>
        </p:txBody>
      </p:sp>
    </p:spTree>
  </p:cSld>
  <p:clrMapOvr>
    <a:masterClrMapping/>
  </p:clrMapOvr>
  <p:transition spd="fast">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2.2.1 · Create groups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Groups combine members into higher-level categories.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correct labels, merge small categories or define business groupings.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Create from marks, headers or the Data pane.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manual group does not absorb new members automatically.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74</a:t>
            </a:r>
          </a:p>
        </p:txBody>
      </p:sp>
    </p:spTree>
  </p:cSld>
  <p:clrMapOvr>
    <a:masterClrMapping/>
  </p:clrMapOvr>
  <p:transition spd="fast">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2.2.2 · Create sets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set divides members into IN and OUT using rules or selection.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Top N, threshold cohorts and set actions.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Sets can be fixed, conditional, Top N or combined.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set is not just a filter; it can remain visible as a category.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75</a:t>
            </a:r>
          </a:p>
        </p:txBody>
      </p:sp>
    </p:spTree>
  </p:cSld>
  <p:clrMapOvr>
    <a:masterClrMapping/>
  </p:clrMapOvr>
  <p:transition spd="fast">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2.2.3 · Create hierarchies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Hierarchies organise dimensions into a drill path.</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Country &gt; Region &gt; City or Category &gt; Product.</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Plus/minus controls expand or collapse levels.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hierarchy does not define data-model integrity.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76</a:t>
            </a:r>
          </a:p>
        </p:txBody>
      </p:sp>
    </p:spTree>
  </p:cSld>
  <p:clrMapOvr>
    <a:masterClrMapping/>
  </p:clrMapOvr>
  <p:transition spd="fast">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2.2.4 · Add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Filters restrict data or marks at specific order-of-operations stages.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focus scope or support interaction.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Dimension, measure, context and table-calculation filters differ.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Filtering after aggregation is not filtering source rows.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77</a:t>
            </a:r>
          </a:p>
        </p:txBody>
      </p:sp>
    </p:spTree>
  </p:cSld>
  <p:clrMapOvr>
    <a:masterClrMapping/>
  </p:clrMapOvr>
  <p:transition spd="fast">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2.2.5 · Add date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Dates can be filtered by part, range, relative period or starting date.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rolling windows and time scope controls.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Relative date filters move with the current date.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Discrete Month alone mixes the same month across years.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78</a:t>
            </a:r>
          </a:p>
        </p:txBody>
      </p:sp>
    </p:spTree>
  </p:cSld>
  <p:clrMapOvr>
    <a:masterClrMapping/>
  </p:clrMapOvr>
  <p:transition spd="fast">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DOMAIN 2 · SECTION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Apply analytics to a worksheet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Sort and rank</a:t>
            </a:r>
          </a:p>
          <a:p>
            <a:pPr algn="l">
              <a:spcAft>
                <a:spcPts val="300"/>
              </a:spcAft>
            </a:pPr>
            <a:r>
              <a:rPr sz="1200" b="0">
                <a:solidFill>
                  <a:srgbClr val="5B6372"/>
                </a:solidFill>
                <a:latin typeface="Arial"/>
              </a:rPr>
              <a:t>Make comparisons intentional and surface priority.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Reference and totals</a:t>
            </a:r>
          </a:p>
          <a:p>
            <a:pPr algn="l">
              <a:spcAft>
                <a:spcPts val="300"/>
              </a:spcAft>
            </a:pPr>
            <a:r>
              <a:rPr sz="1200" b="0">
                <a:solidFill>
                  <a:srgbClr val="5B6372"/>
                </a:solidFill>
                <a:latin typeface="Arial"/>
              </a:rPr>
              <a:t>Add baselines, bands, subtotals and grand totals.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Calculations</a:t>
            </a:r>
          </a:p>
          <a:p>
            <a:pPr algn="l">
              <a:spcAft>
                <a:spcPts val="300"/>
              </a:spcAft>
            </a:pPr>
            <a:r>
              <a:rPr sz="1200" b="0">
                <a:solidFill>
                  <a:srgbClr val="5B6372"/>
                </a:solidFill>
                <a:latin typeface="Arial"/>
              </a:rPr>
              <a:t>Use row-level, aggregate and table logic at the right grain.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Parameters</a:t>
            </a:r>
          </a:p>
          <a:p>
            <a:pPr algn="l">
              <a:spcAft>
                <a:spcPts val="300"/>
              </a:spcAft>
            </a:pPr>
            <a:r>
              <a:rPr sz="1200" b="0">
                <a:solidFill>
                  <a:srgbClr val="5B6372"/>
                </a:solidFill>
                <a:latin typeface="Arial"/>
              </a:rPr>
              <a:t>Let one value steer calculations, filters or reference lines.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79</a:t>
            </a:r>
          </a:p>
        </p:txBody>
      </p:sp>
    </p:spTree>
  </p:cSld>
  <p:clrMapOvr>
    <a:masterClrMapping/>
  </p:clrMapOvr>
  <p:transition spd="fast">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Apply analytics to a worksheet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Sort and rank</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Reference and totals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Calculations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Parameters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0B981"/>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80</a:t>
            </a:r>
          </a:p>
        </p:txBody>
      </p:sp>
    </p:spTree>
  </p:cSld>
  <p:clrMapOvr>
    <a:masterClrMapping/>
  </p:clrMapOvr>
  <p:transition spd="fast">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2.3.1 · Manual and computed sorts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Sorting controls the order of headers and marks.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manual order for business logic and computed order for ranking.</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Nested sorts order members within panes.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Manual order can become stale as data changes.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81</a:t>
            </a:r>
          </a:p>
        </p:txBody>
      </p:sp>
    </p:spTree>
  </p:cSld>
  <p:clrMapOvr>
    <a:masterClrMapping/>
  </p:clrMapOvr>
  <p:transition spd="fast">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2.3.2 · Add a reference line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line or band provides a benchmark for a scope.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targets, averages, medians and ranges.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Scope can be table, pane or cell.</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table average can hide pane-level differences.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82</a:t>
            </a:r>
          </a:p>
        </p:txBody>
      </p:sp>
    </p:spTree>
  </p:cSld>
  <p:clrMapOvr>
    <a:masterClrMapping/>
  </p:clrMapOvr>
  <p:transition spd="fast">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2.3.3 · Use quick table calculations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Table calculations operate on marks already returned to the view.</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running total, percent of total, difference, rank or moving average.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Compute Using defines addressing and partitioning.</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Changing layout can change the calculation.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83</a:t>
            </a:r>
          </a:p>
        </p:txBody>
      </p:sp>
    </p:spTree>
  </p:cSld>
  <p:clrMapOvr>
    <a:masterClrMapping/>
  </p:clrMapOvr>
  <p:transition spd="fast">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2.3.4 · Create bins and histograms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Bins partition a measure into equal-width intervals.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a histogram for distribution shape and unusual ranges.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Bin size controls resolution.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Poor bin width can hide or invent patterns.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84</a:t>
            </a:r>
          </a:p>
        </p:txBody>
      </p:sp>
    </p:spTree>
  </p:cSld>
  <p:clrMapOvr>
    <a:masterClrMapping/>
  </p:clrMapOvr>
  <p:transition spd="fast">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2.3.5 · Create calculated fields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Calculated fields derive row-level, aggregate or table values.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arithmetic, strings, dates and business rules.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Aggregate and non-aggregate expressions cannot be mixed directly.</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Nulls propagate unless handled.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85</a:t>
            </a:r>
          </a:p>
        </p:txBody>
      </p:sp>
    </p:spTree>
  </p:cSld>
  <p:clrMapOvr>
    <a:masterClrMapping/>
  </p:clrMapOvr>
  <p:transition spd="fast">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2.3.6 · Use parameters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parameter is a workbook value controlled by the user.</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swap measures, set thresholds or run what-if analysis.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 parameter acts only when referenced.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Parameters are not automatically row filters.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86</a:t>
            </a:r>
          </a:p>
        </p:txBody>
      </p:sp>
    </p:spTree>
  </p:cSld>
  <p:clrMapOvr>
    <a:masterClrMapping/>
  </p:clrMapOvr>
  <p:transition spd="fast">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OFFICIAL OBJECTIVE · DOMAIN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2.3.7 · Display totals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Subtotals and grand totals summarise selected levels.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when audiences need components and overall results.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Total All Using can change aggregation.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Summed ratios and percentages often create invalid totals.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87</a:t>
            </a:r>
          </a:p>
        </p:txBody>
      </p:sp>
    </p:spTree>
  </p:cSld>
  <p:clrMapOvr>
    <a:masterClrMapping/>
  </p:clrMapOvr>
  <p:transition spd="fast">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04 · TOPIC 02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Build the Core Tableau Chart Portfolio</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 consumer-electronics team needs views for ranking, trend, relationship, geography, composition and precise lookup.</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Frame question</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Choose chart</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Build marks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Format honestly</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Explain insight</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Nine named worksheets: bar, line, scatterplot, symbol map, combined axis, dual axis, stacked bar, density map and highlight table</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Show Me · Rows/Columns · Marks · Measure Names/Values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88</a:t>
            </a:r>
          </a:p>
        </p:txBody>
      </p:sp>
    </p:spTree>
  </p:cSld>
  <p:clrMapOvr>
    <a:masterClrMapping/>
  </p:clrMapOvr>
  <p:transition spd="fast">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04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All nine chart types are present, each matches its stated question, axes and units are honest, maps resolve locations, and each view has a concise evidence-based insight.</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89</a:t>
            </a:r>
          </a:p>
        </p:txBody>
      </p:sp>
    </p:spTree>
  </p:cSld>
  <p:clrMapOvr>
    <a:masterClrMapping/>
  </p:clrMapOvr>
  <p:transition spd="fast">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05 · TOPIC 02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Groups, Sets, Hierarchies and Filters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HarbourLife Insurance needs a reusable segmentation view for advisers and portfolio managers.</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Group tiers</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Define sets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Build hierarchy</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Scope filters</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Test order</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Customer tier groups, Top-N and threshold sets, drill hierarchy, context filter and relative date controls</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groups · sets · hierarchy · context · date filters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90</a:t>
            </a:r>
          </a:p>
        </p:txBody>
      </p:sp>
    </p:spTree>
  </p:cSld>
  <p:clrMapOvr>
    <a:masterClrMapping/>
  </p:clrMapOvr>
  <p:transition spd="fast">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05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The two hierarchies drill correctly, sets produce expected membership, relative dates use the reporting date, and the learner can explain how context changes Top-N evaluation.</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91</a:t>
            </a:r>
          </a:p>
        </p:txBody>
      </p:sp>
    </p:spTree>
  </p:cSld>
  <p:clrMapOvr>
    <a:masterClrMapping/>
  </p:clrMapOvr>
  <p:transition spd="fast">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06 · TOPIC 02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Apply Calculations, Table Calculations and Parameters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Crescent Hospitality wants profitability, occupancy and performance trends with user-controlled thresholds.</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Define grain</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Write calc</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Set compute</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Add parameter</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Validate totals</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Calculated KPIs, running totals, percent-of-total, moving average, reference line and parameter-driven measure swap</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calculated fields · table calculations · parameters · reference lines · totals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92</a:t>
            </a:r>
          </a:p>
        </p:txBody>
      </p:sp>
    </p:spTree>
  </p:cSld>
  <p:clrMapOvr>
    <a:masterClrMapping/>
  </p:clrMapOvr>
  <p:transition spd="fast">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06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Calculations match the Control sheet, table calculations keep intended addressing/partitioning, parameters affect the view, and totals use mathematically valid logic.</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93</a:t>
            </a:r>
          </a:p>
        </p:txBody>
      </p:sp>
    </p:spTree>
  </p:cSld>
  <p:clrMapOvr>
    <a:masterClrMapping/>
  </p:clrMapOvr>
  <p:transition spd="fast">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07 · TOPIC 02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Analyse Southeast Asia Logistics Geographically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Meridian Logistics wants to compare shipment volume, delay rates and port congestion across Southeast Asia.</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Resolve places</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Map points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Encode metrics</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Show density</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Challenge map</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Resolved geographic roles, three map types, tooltip context and a map-vs-bar decision note</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geographic roles · generated coordinates · density · tooltips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94</a:t>
            </a:r>
          </a:p>
        </p:txBody>
      </p:sp>
    </p:spTree>
  </p:cSld>
  <p:clrMapOvr>
    <a:masterClrMapping/>
  </p:clrMapOvr>
  <p:transition spd="fast">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07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Locations resolve correctly, map types match the questions, tooltips carry operational context, colour scales are meaningful, and the learner can state when the bar chart is preferable.</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95</a:t>
            </a:r>
          </a:p>
        </p:txBody>
      </p:sp>
    </p:spTree>
  </p:cSld>
  <p:clrMapOvr>
    <a:masterClrMapping/>
  </p:clrMapOvr>
  <p:transition spd="fast">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RECAP</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02 — Exam Check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Explain</a:t>
            </a:r>
          </a:p>
          <a:p>
            <a:pPr algn="l">
              <a:spcAft>
                <a:spcPts val="300"/>
              </a:spcAft>
            </a:pPr>
            <a:r>
              <a:rPr sz="1200" b="0">
                <a:solidFill>
                  <a:srgbClr val="5B6372"/>
                </a:solidFill>
                <a:latin typeface="Arial"/>
              </a:rPr>
              <a:t>Define the key ideas in exploring and analyzing data in tableau desktop.</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Choose</a:t>
            </a:r>
          </a:p>
          <a:p>
            <a:pPr algn="l">
              <a:spcAft>
                <a:spcPts val="300"/>
              </a:spcAft>
            </a:pPr>
            <a:r>
              <a:rPr sz="1200" b="0">
                <a:solidFill>
                  <a:srgbClr val="5B6372"/>
                </a:solidFill>
                <a:latin typeface="Arial"/>
              </a:rPr>
              <a:t>Select the right feature from a short business scenario.</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Predict</a:t>
            </a:r>
          </a:p>
          <a:p>
            <a:pPr algn="l">
              <a:spcAft>
                <a:spcPts val="300"/>
              </a:spcAft>
            </a:pPr>
            <a:r>
              <a:rPr sz="1200" b="0">
                <a:solidFill>
                  <a:srgbClr val="5B6372"/>
                </a:solidFill>
                <a:latin typeface="Arial"/>
              </a:rPr>
              <a:t>Reason about the result of shelf, model or formatting changes.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Prove</a:t>
            </a:r>
          </a:p>
          <a:p>
            <a:pPr algn="l">
              <a:spcAft>
                <a:spcPts val="300"/>
              </a:spcAft>
            </a:pPr>
            <a:r>
              <a:rPr sz="1200" b="0">
                <a:solidFill>
                  <a:srgbClr val="5B6372"/>
                </a:solidFill>
                <a:latin typeface="Arial"/>
              </a:rPr>
              <a:t>Use the lab workbook and acceptance evidence to validate the outcome.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96</a:t>
            </a:r>
          </a:p>
        </p:txBody>
      </p:sp>
    </p:spTree>
  </p:cSld>
  <p:clrMapOvr>
    <a:masterClrMapping/>
  </p:clrMapOvr>
  <p:transition spd="fast">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TOPIC 03</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Sharing Insights with Dashboards and Workbooks</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Official exam weighting 25% · Formatting · dashboards · actions · device layouts · stories · export · publish</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03</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97</a:t>
            </a:r>
          </a:p>
        </p:txBody>
      </p:sp>
    </p:spTree>
  </p:cSld>
  <p:clrMapOvr>
    <a:masterClrMapping/>
  </p:clrMapOvr>
  <p:transition spd="fast">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EXAM WEIGHTING 25%</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03 — Core Ideas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Format for meaning</a:t>
            </a:r>
          </a:p>
          <a:p>
            <a:pPr algn="l">
              <a:spcAft>
                <a:spcPts val="300"/>
              </a:spcAft>
            </a:pPr>
            <a:r>
              <a:rPr sz="1200" b="0">
                <a:solidFill>
                  <a:srgbClr val="5B6372"/>
                </a:solidFill>
                <a:latin typeface="Arial"/>
              </a:rPr>
              <a:t>Colour, type, shape, size and animation communicate data, not decoration.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Design interaction</a:t>
            </a:r>
          </a:p>
          <a:p>
            <a:pPr algn="l">
              <a:spcAft>
                <a:spcPts val="300"/>
              </a:spcAft>
            </a:pPr>
            <a:r>
              <a:rPr sz="1200" b="0">
                <a:solidFill>
                  <a:srgbClr val="5B6372"/>
                </a:solidFill>
                <a:latin typeface="Arial"/>
              </a:rPr>
              <a:t>Filters, highlighters, tooltips and actions answer predictable questions.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Layout is a system</a:t>
            </a:r>
          </a:p>
          <a:p>
            <a:pPr algn="l">
              <a:spcAft>
                <a:spcPts val="300"/>
              </a:spcAft>
            </a:pPr>
            <a:r>
              <a:rPr sz="1200" b="0">
                <a:solidFill>
                  <a:srgbClr val="5B6372"/>
                </a:solidFill>
                <a:latin typeface="Arial"/>
              </a:rPr>
              <a:t>Containers, hierarchy and device layouts govern alignment and reading order.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Share with intent</a:t>
            </a:r>
          </a:p>
          <a:p>
            <a:pPr algn="l">
              <a:spcAft>
                <a:spcPts val="300"/>
              </a:spcAft>
            </a:pPr>
            <a:r>
              <a:rPr sz="1200" b="0">
                <a:solidFill>
                  <a:srgbClr val="5B6372"/>
                </a:solidFill>
                <a:latin typeface="Arial"/>
              </a:rPr>
              <a:t>Package, publish or export while protecting sensitive detail.</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98</a:t>
            </a:r>
          </a:p>
        </p:txBody>
      </p:sp>
    </p:spTree>
  </p:cSld>
  <p:clrMapOvr>
    <a:masterClrMapping/>
  </p:clrMapOvr>
  <p:transition spd="fast">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SCOPE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03 Blueprint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10858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 group</a:t>
            </a:r>
          </a:p>
        </p:txBody>
      </p:sp>
      <p:sp>
        <p:nvSpPr>
          <p:cNvPr id="9" name="Rectangle 8"/>
          <p:cNvSpPr/>
          <p:nvPr/>
        </p:nvSpPr>
        <p:spPr>
          <a:xfrm>
            <a:off x="4319016" y="1783080"/>
            <a:ext cx="3550920" cy="10858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Codes</a:t>
            </a:r>
          </a:p>
        </p:txBody>
      </p:sp>
      <p:sp>
        <p:nvSpPr>
          <p:cNvPr id="11" name="Rectangle 10"/>
          <p:cNvSpPr/>
          <p:nvPr/>
        </p:nvSpPr>
        <p:spPr>
          <a:xfrm>
            <a:off x="7869936" y="1783080"/>
            <a:ext cx="3550920" cy="108585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Objectives</a:t>
            </a:r>
          </a:p>
        </p:txBody>
      </p:sp>
      <p:sp>
        <p:nvSpPr>
          <p:cNvPr id="13" name="Rectangle 12"/>
          <p:cNvSpPr/>
          <p:nvPr/>
        </p:nvSpPr>
        <p:spPr>
          <a:xfrm>
            <a:off x="76809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72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Format views for presentation</a:t>
            </a:r>
          </a:p>
        </p:txBody>
      </p:sp>
      <p:sp>
        <p:nvSpPr>
          <p:cNvPr id="15" name="Rectangle 14"/>
          <p:cNvSpPr/>
          <p:nvPr/>
        </p:nvSpPr>
        <p:spPr>
          <a:xfrm>
            <a:off x="431901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3.1.1–3.1.6</a:t>
            </a:r>
          </a:p>
        </p:txBody>
      </p:sp>
      <p:sp>
        <p:nvSpPr>
          <p:cNvPr id="17" name="Rectangle 16"/>
          <p:cNvSpPr/>
          <p:nvPr/>
        </p:nvSpPr>
        <p:spPr>
          <a:xfrm>
            <a:off x="786993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6</a:t>
            </a:r>
          </a:p>
        </p:txBody>
      </p:sp>
      <p:sp>
        <p:nvSpPr>
          <p:cNvPr id="19" name="Rectangle 18"/>
          <p:cNvSpPr/>
          <p:nvPr/>
        </p:nvSpPr>
        <p:spPr>
          <a:xfrm>
            <a:off x="76809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7306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Create and modify a dashboard</a:t>
            </a:r>
          </a:p>
        </p:txBody>
      </p:sp>
      <p:sp>
        <p:nvSpPr>
          <p:cNvPr id="21" name="Rectangle 20"/>
          <p:cNvSpPr/>
          <p:nvPr/>
        </p:nvSpPr>
        <p:spPr>
          <a:xfrm>
            <a:off x="431901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3.2.1–3.2.5</a:t>
            </a:r>
          </a:p>
        </p:txBody>
      </p:sp>
      <p:sp>
        <p:nvSpPr>
          <p:cNvPr id="23" name="Rectangle 22"/>
          <p:cNvSpPr/>
          <p:nvPr/>
        </p:nvSpPr>
        <p:spPr>
          <a:xfrm>
            <a:off x="786993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5</a:t>
            </a:r>
          </a:p>
        </p:txBody>
      </p:sp>
      <p:sp>
        <p:nvSpPr>
          <p:cNvPr id="25" name="Rectangle 24"/>
          <p:cNvSpPr/>
          <p:nvPr/>
        </p:nvSpPr>
        <p:spPr>
          <a:xfrm>
            <a:off x="76809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0589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View and share workbook data</a:t>
            </a:r>
          </a:p>
        </p:txBody>
      </p:sp>
      <p:sp>
        <p:nvSpPr>
          <p:cNvPr id="27" name="Rectangle 26"/>
          <p:cNvSpPr/>
          <p:nvPr/>
        </p:nvSpPr>
        <p:spPr>
          <a:xfrm>
            <a:off x="431901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3.3.1–3.3.3</a:t>
            </a:r>
          </a:p>
        </p:txBody>
      </p:sp>
      <p:sp>
        <p:nvSpPr>
          <p:cNvPr id="29" name="Rectangle 28"/>
          <p:cNvSpPr/>
          <p:nvPr/>
        </p:nvSpPr>
        <p:spPr>
          <a:xfrm>
            <a:off x="786993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a:t>
            </a:r>
          </a:p>
        </p:txBody>
      </p:sp>
      <p:sp>
        <p:nvSpPr>
          <p:cNvPr id="31" name="TextBox 3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2" name="TextBox 3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3" name="TextBox 3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99</a:t>
            </a:r>
          </a:p>
        </p:txBody>
      </p:sp>
    </p:spTree>
  </p:cSld>
  <p:clrMapOvr>
    <a:masterClrMapping/>
  </p:clrMapOvr>
  <p:transition spd="fast">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EDITABLE POWERPOINT CHART · SYNTHETIC DATA</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Dashboard Attention Should Follow Risk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914400" y="1828800"/>
          <a:ext cx="10332720" cy="3886200"/>
        </p:xfrm>
        <a:graphic>
          <a:graphicData uri="http://schemas.openxmlformats.org/drawingml/2006/chart">
            <c:chart xmlns:c="http://schemas.openxmlformats.org/drawingml/2006/chart" r:id="rId2"/>
          </a:graphicData>
        </a:graphic>
      </p:graphicFrame>
      <p:sp>
        <p:nvSpPr>
          <p:cNvPr id="8" name="TextBox 7"/>
          <p:cNvSpPr txBox="1"/>
          <p:nvPr/>
        </p:nvSpPr>
        <p:spPr>
          <a:xfrm>
            <a:off x="914400" y="5760720"/>
            <a:ext cx="10241280" cy="411480"/>
          </a:xfrm>
          <a:prstGeom prst="rect">
            <a:avLst/>
          </a:prstGeom>
          <a:noFill/>
        </p:spPr>
        <p:txBody>
          <a:bodyPr wrap="square" anchor="t" lIns="54864" rIns="54864" tIns="54864" bIns="54864">
            <a:spAutoFit/>
          </a:bodyPr>
          <a:lstStyle/>
          <a:p>
            <a:pPr algn="ctr">
              <a:spcAft>
                <a:spcPts val="300"/>
              </a:spcAft>
            </a:pPr>
            <a:r>
              <a:rPr sz="1150" b="0">
                <a:solidFill>
                  <a:srgbClr val="5B6372"/>
                </a:solidFill>
                <a:latin typeface="Arial"/>
              </a:rPr>
              <a:t>A dashboard should prioritise decisions, not give equal visual weight to every metric.</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100</a:t>
            </a:r>
          </a:p>
        </p:txBody>
      </p:sp>
    </p:spTree>
  </p:cSld>
  <p:clrMapOvr>
    <a:masterClrMapping/>
  </p:clrMapOvr>
  <p:transition spd="fast">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DOMAIN 3 · SECTION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Format views for presentation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Colour</a:t>
            </a:r>
          </a:p>
          <a:p>
            <a:pPr algn="l">
              <a:spcAft>
                <a:spcPts val="300"/>
              </a:spcAft>
            </a:pPr>
            <a:r>
              <a:rPr sz="1200" b="0">
                <a:solidFill>
                  <a:srgbClr val="5B6372"/>
                </a:solidFill>
                <a:latin typeface="Arial"/>
              </a:rPr>
              <a:t>Categorical hues show identity; ordered palettes show magnitude.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Typography</a:t>
            </a:r>
          </a:p>
          <a:p>
            <a:pPr algn="l">
              <a:spcAft>
                <a:spcPts val="300"/>
              </a:spcAft>
            </a:pPr>
            <a:r>
              <a:rPr sz="1200" b="0">
                <a:solidFill>
                  <a:srgbClr val="5B6372"/>
                </a:solidFill>
                <a:latin typeface="Arial"/>
              </a:rPr>
              <a:t>Create a readable hierarchy and concise labels.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Marks</a:t>
            </a:r>
          </a:p>
          <a:p>
            <a:pPr algn="l">
              <a:spcAft>
                <a:spcPts val="300"/>
              </a:spcAft>
            </a:pPr>
            <a:r>
              <a:rPr sz="1200" b="0">
                <a:solidFill>
                  <a:srgbClr val="5B6372"/>
                </a:solidFill>
                <a:latin typeface="Arial"/>
              </a:rPr>
              <a:t>Shape and size encode defined variables and remain distinguishable.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Motion</a:t>
            </a:r>
          </a:p>
          <a:p>
            <a:pPr algn="l">
              <a:spcAft>
                <a:spcPts val="300"/>
              </a:spcAft>
            </a:pPr>
            <a:r>
              <a:rPr sz="1200" b="0">
                <a:solidFill>
                  <a:srgbClr val="5B6372"/>
                </a:solidFill>
                <a:latin typeface="Arial"/>
              </a:rPr>
              <a:t>Animation explains change but must not conceal the final state.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101</a:t>
            </a:r>
          </a:p>
        </p:txBody>
      </p:sp>
    </p:spTree>
  </p:cSld>
  <p:clrMapOvr>
    <a:masterClrMapping/>
  </p:clrMapOvr>
  <p:transition spd="fast">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Format views for presentation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Colour</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Typography</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Marks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Motion</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102</a:t>
            </a:r>
          </a:p>
        </p:txBody>
      </p:sp>
    </p:spTree>
  </p:cSld>
  <p:clrMapOvr>
    <a:masterClrMapping/>
  </p:clrMapOvr>
  <p:transition spd="fast">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3.1.1 · Use colour</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Colour can encode category, magnitude or emphasis.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hues for categories and ordered palettes for measures.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Legend type reveals discrete or continuous encoding.</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Rainbow palettes and low contrast impair interpretation.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103</a:t>
            </a:r>
          </a:p>
        </p:txBody>
      </p:sp>
    </p:spTree>
  </p:cSld>
  <p:clrMapOvr>
    <a:masterClrMapping/>
  </p:clrMapOvr>
  <p:transition spd="fast">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3.1.2 · Configure fonts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Typography establishes hierarchy across titles, labels and tooltips.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consistent families and display-appropriate sizes.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Formatting applies at workbook, sheet, pane or element scope.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Tiny labels and excessive bolding reduce scanability.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104</a:t>
            </a:r>
          </a:p>
        </p:txBody>
      </p:sp>
    </p:spTree>
  </p:cSld>
  <p:clrMapOvr>
    <a:masterClrMapping/>
  </p:clrMapOvr>
  <p:transition spd="fast">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3.1.3 · Format marks as shapes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Shape is a categorical channel for point marks.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a small number of distinguishable categories.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Custom shapes can be loaded and assigned.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Shape alone is weak for order and accessibility.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105</a:t>
            </a:r>
          </a:p>
        </p:txBody>
      </p:sp>
    </p:spTree>
  </p:cSld>
  <p:clrMapOvr>
    <a:masterClrMapping/>
  </p:clrMapOvr>
  <p:transition spd="fast">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3.1.4 · Configure viz animations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Animations interpolate filter, sort and data changes.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help audiences track moving marks.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Workbook formatting controls duration and style.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Motion should not be required for understanding.</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106</a:t>
            </a:r>
          </a:p>
        </p:txBody>
      </p:sp>
    </p:spTree>
  </p:cSld>
  <p:clrMapOvr>
    <a:masterClrMapping/>
  </p:clrMapOvr>
  <p:transition spd="fast">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3.1.5 · Change mark size</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Size can encode magnitude or improve legibility.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measure-driven size for proportional symbols.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Area, not radius, is perceived in circles.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Large marks overlap and small marks disappear.</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107</a:t>
            </a:r>
          </a:p>
        </p:txBody>
      </p:sp>
    </p:spTree>
  </p:cSld>
  <p:clrMapOvr>
    <a:masterClrMapping/>
  </p:clrMapOvr>
  <p:transition spd="fast">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3.1.6 · Show and hide legends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Legends decode visual channels and can highlight marks.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Show when encoding is not self-evident; hide redundant cards.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Use the card menu or Analysis &gt; Legends.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Removing a necessary legend makes marks ambiguous.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108</a:t>
            </a:r>
          </a:p>
        </p:txBody>
      </p:sp>
    </p:spTree>
  </p:cSld>
  <p:clrMapOvr>
    <a:masterClrMapping/>
  </p:clrMapOvr>
  <p:transition spd="fast">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DOMAIN 3 · SECTION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Create and modify a dashboard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Worksheets</a:t>
            </a:r>
          </a:p>
          <a:p>
            <a:pPr algn="l">
              <a:spcAft>
                <a:spcPts val="300"/>
              </a:spcAft>
            </a:pPr>
            <a:r>
              <a:rPr sz="1200" b="0">
                <a:solidFill>
                  <a:srgbClr val="5B6372"/>
                </a:solidFill>
                <a:latin typeface="Arial"/>
              </a:rPr>
              <a:t>Place views that support one decision purpose.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Objects</a:t>
            </a:r>
          </a:p>
          <a:p>
            <a:pPr algn="l">
              <a:spcAft>
                <a:spcPts val="300"/>
              </a:spcAft>
            </a:pPr>
            <a:r>
              <a:rPr sz="1200" b="0">
                <a:solidFill>
                  <a:srgbClr val="5B6372"/>
                </a:solidFill>
                <a:latin typeface="Arial"/>
              </a:rPr>
              <a:t>Use tiled/floating containers and navigation deliberately.</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Actions</a:t>
            </a:r>
          </a:p>
          <a:p>
            <a:pPr algn="l">
              <a:spcAft>
                <a:spcPts val="300"/>
              </a:spcAft>
            </a:pPr>
            <a:r>
              <a:rPr sz="1200" b="0">
                <a:solidFill>
                  <a:srgbClr val="5B6372"/>
                </a:solidFill>
                <a:latin typeface="Arial"/>
              </a:rPr>
              <a:t>Filter, highlight, parameter, set and URL actions define experience.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Devices and stories</a:t>
            </a:r>
          </a:p>
          <a:p>
            <a:pPr algn="l">
              <a:spcAft>
                <a:spcPts val="300"/>
              </a:spcAft>
            </a:pPr>
            <a:r>
              <a:rPr sz="1200" b="0">
                <a:solidFill>
                  <a:srgbClr val="5B6372"/>
                </a:solidFill>
                <a:latin typeface="Arial"/>
              </a:rPr>
              <a:t>Adapt layouts for screens; sequence a guided narrative.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109</a:t>
            </a:r>
          </a:p>
        </p:txBody>
      </p:sp>
    </p:spTree>
  </p:cSld>
  <p:clrMapOvr>
    <a:masterClrMapping/>
  </p:clrMapOvr>
  <p:transition spd="fast">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Create and modify a dashboard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Worksheets</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Objects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Actions</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Devices and stories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110</a:t>
            </a:r>
          </a:p>
        </p:txBody>
      </p:sp>
    </p:spTree>
  </p:cSld>
  <p:clrMapOvr>
    <a:masterClrMapping/>
  </p:clrMapOvr>
  <p:transition spd="fast">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3.2.1 · Add worksheets to a dashboard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dashboard composes sheets and objects into one canvas.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Create a clear hierarchy with the key view first.</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Tiled items join containers; floating items use absolute position.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Adding every sheet creates noise.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111</a:t>
            </a:r>
          </a:p>
        </p:txBody>
      </p:sp>
    </p:spTree>
  </p:cSld>
  <p:clrMapOvr>
    <a:masterClrMapping/>
  </p:clrMapOvr>
  <p:transition spd="fast">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3.2.2 · Add consumer interactions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Filters, highlighters, tooltips and navigation support exploration.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controls that match likely questions and correct scope.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Apply to Worksheets defines controlled sheets.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Too many controls create contradictory states.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112</a:t>
            </a:r>
          </a:p>
        </p:txBody>
      </p:sp>
    </p:spTree>
  </p:cSld>
  <p:clrMapOvr>
    <a:masterClrMapping/>
  </p:clrMapOvr>
  <p:transition spd="fast">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3.2.3 · Add dashboard actions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Actions respond to select, hover or menu events.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filter, highlight, parameter, set and URL actions.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Define source, target, event and clearing behaviour.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Wrong clearing behaviour can leave blank dashboards.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113</a:t>
            </a:r>
          </a:p>
        </p:txBody>
      </p:sp>
    </p:spTree>
  </p:cSld>
  <p:clrMapOvr>
    <a:masterClrMapping/>
  </p:clrMapOvr>
  <p:transition spd="fast">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3.2.4 · Configure layouts and devices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Containers and item hierarchy govern responsive alignment.</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fixed/range/automatic sizes and device layouts.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Phone layouts can rearrange or omit objects.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Automatic sizing alone does not ensure mobile usability.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114</a:t>
            </a:r>
          </a:p>
        </p:txBody>
      </p:sp>
    </p:spTree>
  </p:cSld>
  <p:clrMapOvr>
    <a:masterClrMapping/>
  </p:clrMapOvr>
  <p:transition spd="fast">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3.2.5 · Create a story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A story sequences sheets or dashboards as annotated points.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guided explanation rather than open exploration.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Each point stores a view state and caption.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Stories do not replace a coherent dashboard.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115</a:t>
            </a:r>
          </a:p>
        </p:txBody>
      </p:sp>
    </p:spTree>
  </p:cSld>
  <p:clrMapOvr>
    <a:masterClrMapping/>
  </p:clrMapOvr>
  <p:transition spd="fast">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DOMAIN 3 · SECTION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View and share workbook data</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.twb and .twbx</a:t>
            </a:r>
          </a:p>
          <a:p>
            <a:pPr algn="l">
              <a:spcAft>
                <a:spcPts val="300"/>
              </a:spcAft>
            </a:pPr>
            <a:r>
              <a:rPr sz="1200" b="0">
                <a:solidFill>
                  <a:srgbClr val="5B6372"/>
                </a:solidFill>
                <a:latin typeface="Arial"/>
              </a:rPr>
              <a:t>TWB stores XML metadata; TWBX packages local dependencies.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Publish</a:t>
            </a:r>
          </a:p>
          <a:p>
            <a:pPr algn="l">
              <a:spcAft>
                <a:spcPts val="300"/>
              </a:spcAft>
            </a:pPr>
            <a:r>
              <a:rPr sz="1200" b="0">
                <a:solidFill>
                  <a:srgbClr val="5B6372"/>
                </a:solidFill>
                <a:latin typeface="Arial"/>
              </a:rPr>
              <a:t>Server/Cloud adds permissions, refresh, governance and browser use.</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Export</a:t>
            </a:r>
          </a:p>
          <a:p>
            <a:pPr algn="l">
              <a:spcAft>
                <a:spcPts val="300"/>
              </a:spcAft>
            </a:pPr>
            <a:r>
              <a:rPr sz="1200" b="0">
                <a:solidFill>
                  <a:srgbClr val="5B6372"/>
                </a:solidFill>
                <a:latin typeface="Arial"/>
              </a:rPr>
              <a:t>PDF, image and PowerPoint are static communication formats.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Underlying data</a:t>
            </a:r>
          </a:p>
          <a:p>
            <a:pPr algn="l">
              <a:spcAft>
                <a:spcPts val="300"/>
              </a:spcAft>
            </a:pPr>
            <a:r>
              <a:rPr sz="1200" b="0">
                <a:solidFill>
                  <a:srgbClr val="5B6372"/>
                </a:solidFill>
                <a:latin typeface="Arial"/>
              </a:rPr>
              <a:t>Summary/full-data export can expose detail; verify privacy.</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116</a:t>
            </a:r>
          </a:p>
        </p:txBody>
      </p:sp>
    </p:spTree>
  </p:cSld>
  <p:clrMapOvr>
    <a:masterClrMapping/>
  </p:clrMapOvr>
  <p:transition spd="fast">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View and share workbook data</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.twb and .twbx</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Publish</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Export</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Underlying data</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7C3AED"/>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117</a:t>
            </a:r>
          </a:p>
        </p:txBody>
      </p:sp>
    </p:spTree>
  </p:cSld>
  <p:clrMapOvr>
    <a:masterClrMapping/>
  </p:clrMapOvr>
  <p:transition spd="fast">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3.3.1 · Share a workbook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Workbooks can be saved, packaged, exported or published.</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TWBX for portability and Server/Cloud for governed collaboration.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 TWB may break if recipients cannot reach dependencies.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Publishing does not automatically make content public.</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118</a:t>
            </a:r>
          </a:p>
        </p:txBody>
      </p:sp>
    </p:spTree>
  </p:cSld>
  <p:clrMapOvr>
    <a:masterClrMapping/>
  </p:clrMapOvr>
  <p:transition spd="fast">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3.3.2 · View and export underlying data</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View Data exposes summary and permitted underlying rows.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to audit marks or export support records.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Selected marks and permissions define available data.</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Exports can leak sensitive detail.</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119</a:t>
            </a:r>
          </a:p>
        </p:txBody>
      </p:sp>
    </p:spTree>
  </p:cSld>
  <p:clrMapOvr>
    <a:masterClrMapping/>
  </p:clrMapOvr>
  <p:transition spd="fast">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OFFICIAL OBJECTIVE · DOMAIN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3.3.3 · Export to PowerPoint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Tableau exports views as static PowerPoint images.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offline briefings without interactivity.</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Appearance is preserved, not filters or actions.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Label snapshots with a data-as-of date.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120</a:t>
            </a:r>
          </a:p>
        </p:txBody>
      </p:sp>
    </p:spTree>
  </p:cSld>
  <p:clrMapOvr>
    <a:masterClrMapping/>
  </p:clrMapOvr>
  <p:transition spd="fast">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08 · TOPIC 03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Build an Interactive Service Operations Dashboard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ApexCare's service director needs a daily dashboard for backlog, SLA risk, channel demand and team performance.</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Frame decision</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Compose views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Arrange layout</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Add actions</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Test consumers</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1366×768 operational dashboard with KPIs, four views, scoped filters, highlight/filter actions and accessible tooltips</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dashboards · layout containers · filters · actions · tooltips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121</a:t>
            </a:r>
          </a:p>
        </p:txBody>
      </p:sp>
    </p:spTree>
  </p:cSld>
  <p:clrMapOvr>
    <a:masterClrMapping/>
  </p:clrMapOvr>
  <p:transition spd="fast">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08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The dashboard loads in the target size, KPIs match Control, filters are scoped, actions clear correctly, no object overlaps, and a manager can answer the three stated operational questions.</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122</a:t>
            </a:r>
          </a:p>
        </p:txBody>
      </p:sp>
    </p:spTree>
  </p:cSld>
  <p:clrMapOvr>
    <a:masterClrMapping/>
  </p:clrMapOvr>
  <p:transition spd="fast">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09 · TOPIC 03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Optimise, Package and Share an Executive Workbook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Sentinel Energy must brief executives while giving analysts a governed interactive workbook.</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Format view</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Design devices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Build story</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Package files</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Govern sharing</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Desktop and phone layouts, three story points, TWB/TWBX comparison, PDF/PNG/PPT exports and a publishing checklist</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Device Designer · stories · TWBX · PDF/PNG/PPT · Server/Cloud</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123</a:t>
            </a:r>
          </a:p>
        </p:txBody>
      </p:sp>
    </p:spTree>
  </p:cSld>
  <p:clrMapOvr>
    <a:masterClrMapping/>
  </p:clrMapOvr>
  <p:transition spd="fast">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09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Desktop and phone layouts are usable, the story has three coherent points, TWBX is portable, static exports are labelled with data-as-of context, and the publish plan protects underlying data.</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124</a:t>
            </a:r>
          </a:p>
        </p:txBody>
      </p:sp>
    </p:spTree>
  </p:cSld>
  <p:clrMapOvr>
    <a:masterClrMapping/>
  </p:clrMapOvr>
  <p:transition spd="fast">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RECAP</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03 — Exam Check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Explain</a:t>
            </a:r>
          </a:p>
          <a:p>
            <a:pPr algn="l">
              <a:spcAft>
                <a:spcPts val="300"/>
              </a:spcAft>
            </a:pPr>
            <a:r>
              <a:rPr sz="1200" b="0">
                <a:solidFill>
                  <a:srgbClr val="5B6372"/>
                </a:solidFill>
                <a:latin typeface="Arial"/>
              </a:rPr>
              <a:t>Define the key ideas in sharing insights with dashboards and workbooks.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Choose</a:t>
            </a:r>
          </a:p>
          <a:p>
            <a:pPr algn="l">
              <a:spcAft>
                <a:spcPts val="300"/>
              </a:spcAft>
            </a:pPr>
            <a:r>
              <a:rPr sz="1200" b="0">
                <a:solidFill>
                  <a:srgbClr val="5B6372"/>
                </a:solidFill>
                <a:latin typeface="Arial"/>
              </a:rPr>
              <a:t>Select the right feature from a short business scenario.</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Predict</a:t>
            </a:r>
          </a:p>
          <a:p>
            <a:pPr algn="l">
              <a:spcAft>
                <a:spcPts val="300"/>
              </a:spcAft>
            </a:pPr>
            <a:r>
              <a:rPr sz="1200" b="0">
                <a:solidFill>
                  <a:srgbClr val="5B6372"/>
                </a:solidFill>
                <a:latin typeface="Arial"/>
              </a:rPr>
              <a:t>Reason about the result of shelf, model or formatting changes.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Prove</a:t>
            </a:r>
          </a:p>
          <a:p>
            <a:pPr algn="l">
              <a:spcAft>
                <a:spcPts val="300"/>
              </a:spcAft>
            </a:pPr>
            <a:r>
              <a:rPr sz="1200" b="0">
                <a:solidFill>
                  <a:srgbClr val="5B6372"/>
                </a:solidFill>
                <a:latin typeface="Arial"/>
              </a:rPr>
              <a:t>Use the lab workbook and acceptance evidence to validate the outcome.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125</a:t>
            </a:r>
          </a:p>
        </p:txBody>
      </p:sp>
    </p:spTree>
  </p:cSld>
  <p:clrMapOvr>
    <a:masterClrMapping/>
  </p:clrMapOvr>
  <p:transition spd="fast">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TOPIC 04</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000" b="1">
                <a:solidFill>
                  <a:srgbClr val="161B26"/>
                </a:solidFill>
                <a:latin typeface="Arial"/>
              </a:rPr>
              <a:t>Understanding Tableau Concepts and Certification Preparation</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Official exam weighting 15% · Dimensions · measures · discrete · continuous · aggregation · exam strategy</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04</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126</a:t>
            </a:r>
          </a:p>
        </p:txBody>
      </p:sp>
    </p:spTree>
  </p:cSld>
  <p:clrMapOvr>
    <a:masterClrMapping/>
  </p:clrMapOvr>
  <p:transition spd="fast">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EXAM WEIGHTING 15%</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04 — Core Ideas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Role and type differ</a:t>
            </a:r>
          </a:p>
          <a:p>
            <a:pPr algn="l">
              <a:spcAft>
                <a:spcPts val="300"/>
              </a:spcAft>
            </a:pPr>
            <a:r>
              <a:rPr sz="1200" b="0">
                <a:solidFill>
                  <a:srgbClr val="5B6372"/>
                </a:solidFill>
                <a:latin typeface="Arial"/>
              </a:rPr>
              <a:t>Dimension/measure is analytical role; discrete/continuous is display behaviour.</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Blue and green</a:t>
            </a:r>
          </a:p>
          <a:p>
            <a:pPr algn="l">
              <a:spcAft>
                <a:spcPts val="300"/>
              </a:spcAft>
            </a:pPr>
            <a:r>
              <a:rPr sz="1200" b="0">
                <a:solidFill>
                  <a:srgbClr val="5B6372"/>
                </a:solidFill>
                <a:latin typeface="Arial"/>
              </a:rPr>
              <a:t>Blue discrete pills make headers; green continuous pills make axes.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Aggregation follows grain</a:t>
            </a:r>
          </a:p>
          <a:p>
            <a:pPr algn="l">
              <a:spcAft>
                <a:spcPts val="300"/>
              </a:spcAft>
            </a:pPr>
            <a:r>
              <a:rPr sz="1200" b="0">
                <a:solidFill>
                  <a:srgbClr val="5B6372"/>
                </a:solidFill>
                <a:latin typeface="Arial"/>
              </a:rPr>
              <a:t>Measures aggregate at the level defined by dimensions.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Reason from consequences</a:t>
            </a:r>
          </a:p>
          <a:p>
            <a:pPr algn="l">
              <a:spcAft>
                <a:spcPts val="300"/>
              </a:spcAft>
            </a:pPr>
            <a:r>
              <a:rPr sz="1200" b="0">
                <a:solidFill>
                  <a:srgbClr val="5B6372"/>
                </a:solidFill>
                <a:latin typeface="Arial"/>
              </a:rPr>
              <a:t>Use pill colour, shelf placement, grain and order of operations.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127</a:t>
            </a:r>
          </a:p>
        </p:txBody>
      </p:sp>
    </p:spTree>
  </p:cSld>
  <p:clrMapOvr>
    <a:masterClrMapping/>
  </p:clrMapOvr>
  <p:transition spd="fast">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SCOPE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04 Blueprint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550920" cy="10858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 group</a:t>
            </a:r>
          </a:p>
        </p:txBody>
      </p:sp>
      <p:sp>
        <p:nvSpPr>
          <p:cNvPr id="9" name="Rectangle 8"/>
          <p:cNvSpPr/>
          <p:nvPr/>
        </p:nvSpPr>
        <p:spPr>
          <a:xfrm>
            <a:off x="4319016" y="1783080"/>
            <a:ext cx="3550920" cy="10858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5559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Codes</a:t>
            </a:r>
          </a:p>
        </p:txBody>
      </p:sp>
      <p:sp>
        <p:nvSpPr>
          <p:cNvPr id="11" name="Rectangle 10"/>
          <p:cNvSpPr/>
          <p:nvPr/>
        </p:nvSpPr>
        <p:spPr>
          <a:xfrm>
            <a:off x="7869936" y="1783080"/>
            <a:ext cx="3550920" cy="108585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06512" y="1801368"/>
            <a:ext cx="3477768" cy="1049274"/>
          </a:xfrm>
          <a:prstGeom prst="rect">
            <a:avLst/>
          </a:prstGeom>
          <a:noFill/>
        </p:spPr>
        <p:txBody>
          <a:bodyPr wrap="square" anchor="ctr" lIns="54864" rIns="54864" tIns="54864" bIns="54864">
            <a:spAutoFit/>
          </a:bodyPr>
          <a:lstStyle/>
          <a:p>
            <a:pPr algn="ctr">
              <a:spcAft>
                <a:spcPts val="300"/>
              </a:spcAft>
            </a:pPr>
            <a:r>
              <a:rPr sz="1150" b="1">
                <a:solidFill>
                  <a:srgbClr val="FFFFFF"/>
                </a:solidFill>
                <a:latin typeface="Arial"/>
              </a:rPr>
              <a:t>Objectives</a:t>
            </a:r>
          </a:p>
        </p:txBody>
      </p:sp>
      <p:sp>
        <p:nvSpPr>
          <p:cNvPr id="13" name="Rectangle 12"/>
          <p:cNvSpPr/>
          <p:nvPr/>
        </p:nvSpPr>
        <p:spPr>
          <a:xfrm>
            <a:off x="76809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8872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Understand dimensions and measures</a:t>
            </a:r>
          </a:p>
        </p:txBody>
      </p:sp>
      <p:sp>
        <p:nvSpPr>
          <p:cNvPr id="15" name="Rectangle 14"/>
          <p:cNvSpPr/>
          <p:nvPr/>
        </p:nvSpPr>
        <p:spPr>
          <a:xfrm>
            <a:off x="431901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3880"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4.1.1–4.1.3</a:t>
            </a:r>
          </a:p>
        </p:txBody>
      </p:sp>
      <p:sp>
        <p:nvSpPr>
          <p:cNvPr id="17" name="Rectangle 16"/>
          <p:cNvSpPr/>
          <p:nvPr/>
        </p:nvSpPr>
        <p:spPr>
          <a:xfrm>
            <a:off x="7869936" y="28689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24799" y="28872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a:t>
            </a:r>
          </a:p>
        </p:txBody>
      </p:sp>
      <p:sp>
        <p:nvSpPr>
          <p:cNvPr id="19" name="Rectangle 18"/>
          <p:cNvSpPr/>
          <p:nvPr/>
        </p:nvSpPr>
        <p:spPr>
          <a:xfrm>
            <a:off x="76809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97306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Understand discrete and continuous fields</a:t>
            </a:r>
          </a:p>
        </p:txBody>
      </p:sp>
      <p:sp>
        <p:nvSpPr>
          <p:cNvPr id="21" name="Rectangle 20"/>
          <p:cNvSpPr/>
          <p:nvPr/>
        </p:nvSpPr>
        <p:spPr>
          <a:xfrm>
            <a:off x="431901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3880"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4.2.1–4.2.3</a:t>
            </a:r>
          </a:p>
        </p:txBody>
      </p:sp>
      <p:sp>
        <p:nvSpPr>
          <p:cNvPr id="23" name="Rectangle 22"/>
          <p:cNvSpPr/>
          <p:nvPr/>
        </p:nvSpPr>
        <p:spPr>
          <a:xfrm>
            <a:off x="7869936" y="3954780"/>
            <a:ext cx="3550920" cy="108585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4799" y="397306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3</a:t>
            </a:r>
          </a:p>
        </p:txBody>
      </p:sp>
      <p:sp>
        <p:nvSpPr>
          <p:cNvPr id="25" name="Rectangle 24"/>
          <p:cNvSpPr/>
          <p:nvPr/>
        </p:nvSpPr>
        <p:spPr>
          <a:xfrm>
            <a:off x="76809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058918"/>
            <a:ext cx="3441192" cy="1049274"/>
          </a:xfrm>
          <a:prstGeom prst="rect">
            <a:avLst/>
          </a:prstGeom>
          <a:noFill/>
        </p:spPr>
        <p:txBody>
          <a:bodyPr wrap="square" anchor="ctr" lIns="54864" rIns="54864" tIns="54864" bIns="54864">
            <a:spAutoFit/>
          </a:bodyPr>
          <a:lstStyle/>
          <a:p>
            <a:pPr algn="l">
              <a:spcAft>
                <a:spcPts val="300"/>
              </a:spcAft>
            </a:pPr>
            <a:r>
              <a:rPr sz="1050" b="1">
                <a:solidFill>
                  <a:srgbClr val="161B26"/>
                </a:solidFill>
                <a:latin typeface="Arial"/>
              </a:rPr>
              <a:t>Understand aggregations</a:t>
            </a:r>
          </a:p>
        </p:txBody>
      </p:sp>
      <p:sp>
        <p:nvSpPr>
          <p:cNvPr id="27" name="Rectangle 26"/>
          <p:cNvSpPr/>
          <p:nvPr/>
        </p:nvSpPr>
        <p:spPr>
          <a:xfrm>
            <a:off x="431901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3880"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4.3.1–4.3.2</a:t>
            </a:r>
          </a:p>
        </p:txBody>
      </p:sp>
      <p:sp>
        <p:nvSpPr>
          <p:cNvPr id="29" name="Rectangle 28"/>
          <p:cNvSpPr/>
          <p:nvPr/>
        </p:nvSpPr>
        <p:spPr>
          <a:xfrm>
            <a:off x="7869936" y="5040630"/>
            <a:ext cx="3550920" cy="108585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24799" y="5058918"/>
            <a:ext cx="3441192" cy="1049274"/>
          </a:xfrm>
          <a:prstGeom prst="rect">
            <a:avLst/>
          </a:prstGeom>
          <a:noFill/>
        </p:spPr>
        <p:txBody>
          <a:bodyPr wrap="square" anchor="ctr" lIns="54864" rIns="54864" tIns="54864" bIns="54864">
            <a:spAutoFit/>
          </a:bodyPr>
          <a:lstStyle/>
          <a:p>
            <a:pPr algn="l">
              <a:spcAft>
                <a:spcPts val="300"/>
              </a:spcAft>
            </a:pPr>
            <a:r>
              <a:rPr sz="1050" b="0">
                <a:solidFill>
                  <a:srgbClr val="161B26"/>
                </a:solidFill>
                <a:latin typeface="Arial"/>
              </a:rPr>
              <a:t>2</a:t>
            </a:r>
          </a:p>
        </p:txBody>
      </p:sp>
      <p:sp>
        <p:nvSpPr>
          <p:cNvPr id="31" name="TextBox 3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2" name="TextBox 3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3" name="TextBox 3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128</a:t>
            </a:r>
          </a:p>
        </p:txBody>
      </p:sp>
    </p:spTree>
  </p:cSld>
  <p:clrMapOvr>
    <a:masterClrMapping/>
  </p:clrMapOvr>
  <p:transition spd="fast">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EDITABLE POWERPOINT CHART · CONCEPT VISUAL</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Dimensions Change the Level of Detail</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914400" y="1828800"/>
          <a:ext cx="10332720" cy="3886200"/>
        </p:xfrm>
        <a:graphic>
          <a:graphicData uri="http://schemas.openxmlformats.org/drawingml/2006/chart">
            <c:chart xmlns:c="http://schemas.openxmlformats.org/drawingml/2006/chart" r:id="rId2"/>
          </a:graphicData>
        </a:graphic>
      </p:graphicFrame>
      <p:sp>
        <p:nvSpPr>
          <p:cNvPr id="8" name="TextBox 7"/>
          <p:cNvSpPr txBox="1"/>
          <p:nvPr/>
        </p:nvSpPr>
        <p:spPr>
          <a:xfrm>
            <a:off x="914400" y="5760720"/>
            <a:ext cx="10241280" cy="411480"/>
          </a:xfrm>
          <a:prstGeom prst="rect">
            <a:avLst/>
          </a:prstGeom>
          <a:noFill/>
        </p:spPr>
        <p:txBody>
          <a:bodyPr wrap="square" anchor="t" lIns="54864" rIns="54864" tIns="54864" bIns="54864">
            <a:spAutoFit/>
          </a:bodyPr>
          <a:lstStyle/>
          <a:p>
            <a:pPr algn="ctr">
              <a:spcAft>
                <a:spcPts val="300"/>
              </a:spcAft>
            </a:pPr>
            <a:r>
              <a:rPr sz="1150" b="0">
                <a:solidFill>
                  <a:srgbClr val="5B6372"/>
                </a:solidFill>
                <a:latin typeface="Arial"/>
              </a:rPr>
              <a:t>Adding dimensions partitions records into finer marks; it does not create new source rows.</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129</a:t>
            </a:r>
          </a:p>
        </p:txBody>
      </p:sp>
    </p:spTree>
  </p:cSld>
  <p:clrMapOvr>
    <a:masterClrMapping/>
  </p:clrMapOvr>
  <p:transition spd="fast">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DOMAIN 4 · SECTION 1</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Understand dimensions and measures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Dimension</a:t>
            </a:r>
          </a:p>
          <a:p>
            <a:pPr algn="l">
              <a:spcAft>
                <a:spcPts val="300"/>
              </a:spcAft>
            </a:pPr>
            <a:r>
              <a:rPr sz="1200" b="0">
                <a:solidFill>
                  <a:srgbClr val="5B6372"/>
                </a:solidFill>
                <a:latin typeface="Arial"/>
              </a:rPr>
              <a:t>Qualitative field that slices, groups or labels marks.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Measure</a:t>
            </a:r>
          </a:p>
          <a:p>
            <a:pPr algn="l">
              <a:spcAft>
                <a:spcPts val="300"/>
              </a:spcAft>
            </a:pPr>
            <a:r>
              <a:rPr sz="1200" b="0">
                <a:solidFill>
                  <a:srgbClr val="5B6372"/>
                </a:solidFill>
                <a:latin typeface="Arial"/>
              </a:rPr>
              <a:t>Quantitative field usually aggregated across dimensions.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Convertible role</a:t>
            </a:r>
          </a:p>
          <a:p>
            <a:pPr algn="l">
              <a:spcAft>
                <a:spcPts val="300"/>
              </a:spcAft>
            </a:pPr>
            <a:r>
              <a:rPr sz="1200" b="0">
                <a:solidFill>
                  <a:srgbClr val="5B6372"/>
                </a:solidFill>
                <a:latin typeface="Arial"/>
              </a:rPr>
              <a:t>A numeric ID may be a dimension; categories can be counted.</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Level of detail</a:t>
            </a:r>
          </a:p>
          <a:p>
            <a:pPr algn="l">
              <a:spcAft>
                <a:spcPts val="300"/>
              </a:spcAft>
            </a:pPr>
            <a:r>
              <a:rPr sz="1200" b="0">
                <a:solidFill>
                  <a:srgbClr val="5B6372"/>
                </a:solidFill>
                <a:latin typeface="Arial"/>
              </a:rPr>
              <a:t>Every dimension changes the granularity of marks.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130</a:t>
            </a:r>
          </a:p>
        </p:txBody>
      </p:sp>
    </p:spTree>
  </p:cSld>
  <p:clrMapOvr>
    <a:masterClrMapping/>
  </p:clrMapOvr>
  <p:transition spd="fast">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Understand dimensions and measures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Dimension</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Measure</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Convertible role</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Level of detail</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131</a:t>
            </a:r>
          </a:p>
        </p:txBody>
      </p:sp>
    </p:spTree>
  </p:cSld>
  <p:clrMapOvr>
    <a:masterClrMapping/>
  </p:clrMapOvr>
  <p:transition spd="fast">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4.1.1 · What dimensions contain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Dimensions usually contain names, categories, dates and locations.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them to segment, label, filter and define detail.</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They often create headers and partitions.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A numeric code is not automatically a measure.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132</a:t>
            </a:r>
          </a:p>
        </p:txBody>
      </p:sp>
    </p:spTree>
  </p:cSld>
  <p:clrMapOvr>
    <a:masterClrMapping/>
  </p:clrMapOvr>
  <p:transition spd="fast">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4.1.2 · What measures contain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Measures usually contain quantitative values for aggregation.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totals, averages, counts, ratios and axes.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Green measures create axes; blue measures can create headers.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Percentages and prices are not always additive.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133</a:t>
            </a:r>
          </a:p>
        </p:txBody>
      </p:sp>
    </p:spTree>
  </p:cSld>
  <p:clrMapOvr>
    <a:masterClrMapping/>
  </p:clrMapOvr>
  <p:transition spd="fast">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4.1.3 · Dimensions versus measures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Dimensions answer who/what/where/when; measures answer how much/how many.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both to define grain and numerical result.</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Converting role changes partitioning and aggregation.</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Do not confuse role with data type.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134</a:t>
            </a:r>
          </a:p>
        </p:txBody>
      </p:sp>
    </p:spTree>
  </p:cSld>
  <p:clrMapOvr>
    <a:masterClrMapping/>
  </p:clrMapOvr>
  <p:transition spd="fast">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DOMAIN 4 · SECTION 2</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Understand discrete and continuous fields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Discrete</a:t>
            </a:r>
          </a:p>
          <a:p>
            <a:pPr algn="l">
              <a:spcAft>
                <a:spcPts val="300"/>
              </a:spcAft>
            </a:pPr>
            <a:r>
              <a:rPr sz="1200" b="0">
                <a:solidFill>
                  <a:srgbClr val="5B6372"/>
                </a:solidFill>
                <a:latin typeface="Arial"/>
              </a:rPr>
              <a:t>Finite headers that partition the view; blue pills.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Continuous</a:t>
            </a:r>
          </a:p>
          <a:p>
            <a:pPr algn="l">
              <a:spcAft>
                <a:spcPts val="300"/>
              </a:spcAft>
            </a:pPr>
            <a:r>
              <a:rPr sz="1200" b="0">
                <a:solidFill>
                  <a:srgbClr val="5B6372"/>
                </a:solidFill>
                <a:latin typeface="Arial"/>
              </a:rPr>
              <a:t>Numeric or temporal range on an axis; green pills.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Independent of role</a:t>
            </a:r>
          </a:p>
          <a:p>
            <a:pPr algn="l">
              <a:spcAft>
                <a:spcPts val="300"/>
              </a:spcAft>
            </a:pPr>
            <a:r>
              <a:rPr sz="1200" b="0">
                <a:solidFill>
                  <a:srgbClr val="5B6372"/>
                </a:solidFill>
                <a:latin typeface="Arial"/>
              </a:rPr>
              <a:t>Dimensions and measures can each be discrete or continuous.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Dates reveal it</a:t>
            </a:r>
          </a:p>
          <a:p>
            <a:pPr algn="l">
              <a:spcAft>
                <a:spcPts val="300"/>
              </a:spcAft>
            </a:pPr>
            <a:r>
              <a:rPr sz="1200" b="0">
                <a:solidFill>
                  <a:srgbClr val="5B6372"/>
                </a:solidFill>
                <a:latin typeface="Arial"/>
              </a:rPr>
              <a:t>Date parts are commonly discrete; date values commonly continuous.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135</a:t>
            </a:r>
          </a:p>
        </p:txBody>
      </p:sp>
    </p:spTree>
  </p:cSld>
  <p:clrMapOvr>
    <a:masterClrMapping/>
  </p:clrMapOvr>
  <p:transition spd="fast">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300" b="1">
                <a:solidFill>
                  <a:srgbClr val="161B26"/>
                </a:solidFill>
                <a:latin typeface="Arial"/>
              </a:rPr>
              <a:t>Reasoning Pattern — Understand discrete and continuous fields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Discrete</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Continuous</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Independent of role</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Dates reveal it</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136</a:t>
            </a:r>
          </a:p>
        </p:txBody>
      </p:sp>
    </p:spTree>
  </p:cSld>
  <p:clrMapOvr>
    <a:masterClrMapping/>
  </p:clrMapOvr>
  <p:transition spd="fast">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4.2.1 · How discrete fields display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Discrete fields create headers and partitions.</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named groups, panes and exact date parts.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Blue pills mean discrete behaviour.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Discrete does not mean text.</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137</a:t>
            </a:r>
          </a:p>
        </p:txBody>
      </p:sp>
    </p:spTree>
  </p:cSld>
  <p:clrMapOvr>
    <a:masterClrMapping/>
  </p:clrMapOvr>
  <p:transition spd="fast">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4.2.2 · How continuous fields display</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Continuous fields create axes over an unbroken range.</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for quantitative scales and temporal trends.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Green pills mean continuous behaviour.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Continuous does not mean measure.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138</a:t>
            </a:r>
          </a:p>
        </p:txBody>
      </p:sp>
    </p:spTree>
  </p:cSld>
  <p:clrMapOvr>
    <a:masterClrMapping/>
  </p:clrMapOvr>
  <p:transition spd="fast">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4.2.3 · Discrete date parts vs values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Date parts classify recurring members; date values preserve chronology.</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continuous dates for timelines and parts for seasonal grouping.</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Blue MONTH shows Jan-Dec; green MONTH spans time.</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Month-only can aggregate multiple years together.</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139</a:t>
            </a:r>
          </a:p>
        </p:txBody>
      </p:sp>
    </p:spTree>
  </p:cSld>
  <p:clrMapOvr>
    <a:masterClrMapping/>
  </p:clrMapOvr>
  <p:transition spd="fast">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DOMAIN 4 · SECTION 3</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Understand aggregations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Default behaviour</a:t>
            </a:r>
          </a:p>
          <a:p>
            <a:pPr algn="l">
              <a:spcAft>
                <a:spcPts val="300"/>
              </a:spcAft>
            </a:pPr>
            <a:r>
              <a:rPr sz="1200" b="0">
                <a:solidFill>
                  <a:srgbClr val="5B6372"/>
                </a:solidFill>
                <a:latin typeface="Arial"/>
              </a:rPr>
              <a:t>Numeric measures usually aggregate as SUM.</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Grain changes result</a:t>
            </a:r>
          </a:p>
          <a:p>
            <a:pPr algn="l">
              <a:spcAft>
                <a:spcPts val="300"/>
              </a:spcAft>
            </a:pPr>
            <a:r>
              <a:rPr sz="1200" b="0">
                <a:solidFill>
                  <a:srgbClr val="5B6372"/>
                </a:solidFill>
                <a:latin typeface="Arial"/>
              </a:rPr>
              <a:t>Adding a dimension partitions rows into more marks.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Aggregation is contextual</a:t>
            </a:r>
          </a:p>
          <a:p>
            <a:pPr algn="l">
              <a:spcAft>
                <a:spcPts val="300"/>
              </a:spcAft>
            </a:pPr>
            <a:r>
              <a:rPr sz="1200" b="0">
                <a:solidFill>
                  <a:srgbClr val="5B6372"/>
                </a:solidFill>
                <a:latin typeface="Arial"/>
              </a:rPr>
              <a:t>The same measure differs at table, pane and cell levels.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Validate totals</a:t>
            </a:r>
          </a:p>
          <a:p>
            <a:pPr algn="l">
              <a:spcAft>
                <a:spcPts val="300"/>
              </a:spcAft>
            </a:pPr>
            <a:r>
              <a:rPr sz="1200" b="0">
                <a:solidFill>
                  <a:srgbClr val="5B6372"/>
                </a:solidFill>
                <a:latin typeface="Arial"/>
              </a:rPr>
              <a:t>Ratios and distinct counts require suitable total logic.</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140</a:t>
            </a:r>
          </a:p>
        </p:txBody>
      </p:sp>
    </p:spTree>
  </p:cSld>
  <p:clrMapOvr>
    <a:masterClrMapping/>
  </p:clrMapOvr>
  <p:transition spd="fast">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CONCEPTUAL DECISION FLOW</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Reasoning Pattern — Understand aggregations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Default behaviour</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Grain changes result</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Aggregation is contextual</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totals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F59E0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Validate result</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This is a reasoning map, not a click-by-click lab procedure.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141</a:t>
            </a:r>
          </a:p>
        </p:txBody>
      </p:sp>
    </p:spTree>
  </p:cSld>
  <p:clrMapOvr>
    <a:masterClrMapping/>
  </p:clrMapOvr>
  <p:transition spd="fast">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4.3.1 · Default aggregation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Measures aggregate to the current grain, commonly using SUM.</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Change to AVG, MIN, MAX, COUNT or another appropriate operation.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The pill shows the active aggregation, such as SUM(Sales).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Number format and aggregation are separate.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142</a:t>
            </a:r>
          </a:p>
        </p:txBody>
      </p:sp>
    </p:spTree>
  </p:cSld>
  <p:clrMapOvr>
    <a:masterClrMapping/>
  </p:clrMapOvr>
  <p:transition spd="fast">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OFFICIAL OBJECTIVE · DOMAIN 4</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4.3.2 · How dimensions change aggregation</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What it means</a:t>
            </a:r>
          </a:p>
          <a:p>
            <a:pPr algn="l">
              <a:spcAft>
                <a:spcPts val="300"/>
              </a:spcAft>
            </a:pPr>
            <a:r>
              <a:rPr sz="1200" b="0">
                <a:solidFill>
                  <a:srgbClr val="5B6372"/>
                </a:solidFill>
                <a:latin typeface="Arial"/>
              </a:rPr>
              <a:t>Each dimension partitions data into a finer detail.</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Use it when</a:t>
            </a:r>
          </a:p>
          <a:p>
            <a:pPr algn="l">
              <a:spcAft>
                <a:spcPts val="300"/>
              </a:spcAft>
            </a:pPr>
            <a:r>
              <a:rPr sz="1200" b="0">
                <a:solidFill>
                  <a:srgbClr val="5B6372"/>
                </a:solidFill>
                <a:latin typeface="Arial"/>
              </a:rPr>
              <a:t>Use dimensions deliberately to answer the required breakdown.</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Exam clue</a:t>
            </a:r>
          </a:p>
          <a:p>
            <a:pPr algn="l">
              <a:spcAft>
                <a:spcPts val="300"/>
              </a:spcAft>
            </a:pPr>
            <a:r>
              <a:rPr sz="1200" b="0">
                <a:solidFill>
                  <a:srgbClr val="5B6372"/>
                </a:solidFill>
                <a:latin typeface="Arial"/>
              </a:rPr>
              <a:t>SUM(Sales) by Region differs from Region and Customer.</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Common pitfall</a:t>
            </a:r>
          </a:p>
          <a:p>
            <a:pPr algn="l">
              <a:spcAft>
                <a:spcPts val="300"/>
              </a:spcAft>
            </a:pPr>
            <a:r>
              <a:rPr sz="1200" b="0">
                <a:solidFill>
                  <a:srgbClr val="5B6372"/>
                </a:solidFill>
                <a:latin typeface="Arial"/>
              </a:rPr>
              <a:t>Unexpected totals may signal duplicated model rows or unintended dimensions.</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143</a:t>
            </a:r>
          </a:p>
        </p:txBody>
      </p:sp>
    </p:spTree>
  </p:cSld>
  <p:clrMapOvr>
    <a:masterClrMapping/>
  </p:clrMapOvr>
  <p:transition spd="fast">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10 · TOPIC 04 · OVERVIEW ONLY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Capstone: Northstar Retail Executive Workbook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0652760" cy="74980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7552" y="1847088"/>
            <a:ext cx="10241280" cy="566928"/>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Northstar Retail's COO needs an executive workbook that reconciles sales, returns, inventory and regional targets, then communicates actions across desktop and mobile.</a:t>
            </a:r>
          </a:p>
        </p:txBody>
      </p:sp>
      <p:sp>
        <p:nvSpPr>
          <p:cNvPr id="9" name="Rectangle 8"/>
          <p:cNvSpPr/>
          <p:nvPr/>
        </p:nvSpPr>
        <p:spPr>
          <a:xfrm>
            <a:off x="77724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1. Model trusted data</a:t>
            </a:r>
          </a:p>
        </p:txBody>
      </p:sp>
      <p:sp>
        <p:nvSpPr>
          <p:cNvPr id="12" name="Rectangle 11"/>
          <p:cNvSpPr/>
          <p:nvPr/>
        </p:nvSpPr>
        <p:spPr>
          <a:xfrm>
            <a:off x="294071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40710" y="2788920"/>
            <a:ext cx="199887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215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2. Analyse questions</a:t>
            </a:r>
          </a:p>
        </p:txBody>
      </p:sp>
      <p:sp>
        <p:nvSpPr>
          <p:cNvPr id="15" name="Rectangle 14"/>
          <p:cNvSpPr/>
          <p:nvPr/>
        </p:nvSpPr>
        <p:spPr>
          <a:xfrm>
            <a:off x="5104180"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04180" y="2788920"/>
            <a:ext cx="199887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5620"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3. Build dashboard</a:t>
            </a:r>
          </a:p>
        </p:txBody>
      </p:sp>
      <p:sp>
        <p:nvSpPr>
          <p:cNvPr id="18" name="Rectangle 17"/>
          <p:cNvSpPr/>
          <p:nvPr/>
        </p:nvSpPr>
        <p:spPr>
          <a:xfrm>
            <a:off x="726765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7651" y="2788920"/>
            <a:ext cx="199887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5909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4. Package insight</a:t>
            </a:r>
          </a:p>
        </p:txBody>
      </p:sp>
      <p:sp>
        <p:nvSpPr>
          <p:cNvPr id="21" name="Rectangle 20"/>
          <p:cNvSpPr/>
          <p:nvPr/>
        </p:nvSpPr>
        <p:spPr>
          <a:xfrm>
            <a:off x="9431121" y="2788920"/>
            <a:ext cx="1998878"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431121" y="2788920"/>
            <a:ext cx="199887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2561" y="2971800"/>
            <a:ext cx="1815998" cy="713232"/>
          </a:xfrm>
          <a:prstGeom prst="rect">
            <a:avLst/>
          </a:prstGeom>
          <a:noFill/>
        </p:spPr>
        <p:txBody>
          <a:bodyPr wrap="square" anchor="ctr" lIns="54864" rIns="54864" tIns="54864" bIns="54864">
            <a:spAutoFit/>
          </a:bodyPr>
          <a:lstStyle/>
          <a:p>
            <a:pPr algn="ctr">
              <a:spcAft>
                <a:spcPts val="300"/>
              </a:spcAft>
            </a:pPr>
            <a:r>
              <a:rPr sz="1250" b="1">
                <a:solidFill>
                  <a:srgbClr val="161B26"/>
                </a:solidFill>
                <a:latin typeface="Arial"/>
              </a:rPr>
              <a:t>5. Review domains</a:t>
            </a:r>
          </a:p>
        </p:txBody>
      </p:sp>
      <p:sp>
        <p:nvSpPr>
          <p:cNvPr id="24" name="Rectangle 23"/>
          <p:cNvSpPr/>
          <p:nvPr/>
        </p:nvSpPr>
        <p:spPr>
          <a:xfrm>
            <a:off x="777240" y="4279392"/>
            <a:ext cx="10652760" cy="960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370832"/>
            <a:ext cx="10195560" cy="777240"/>
          </a:xfrm>
          <a:prstGeom prst="rect">
            <a:avLst/>
          </a:prstGeom>
          <a:noFill/>
        </p:spPr>
        <p:txBody>
          <a:bodyPr wrap="square" anchor="ctr" lIns="54864" rIns="54864" tIns="54864" bIns="54864">
            <a:spAutoFit/>
          </a:bodyPr>
          <a:lstStyle/>
          <a:p>
            <a:pPr algn="l">
              <a:spcAft>
                <a:spcPts val="300"/>
              </a:spcAft>
            </a:pPr>
            <a:r>
              <a:rPr sz="1100" b="1">
                <a:solidFill>
                  <a:srgbClr val="10B981"/>
                </a:solidFill>
                <a:latin typeface="Arial"/>
              </a:rPr>
              <a:t>OUTPUT  </a:t>
            </a:r>
            <a:r>
              <a:rPr sz="1300" b="0">
                <a:solidFill>
                  <a:srgbClr val="161B26"/>
                </a:solidFill>
                <a:latin typeface="Arial"/>
              </a:rPr>
              <a:t>A validated multi-table model, eight analytical worksheets, executive dashboard, phone layout, story, packaged workbook and exam-domain checklist</a:t>
            </a:r>
          </a:p>
        </p:txBody>
      </p:sp>
      <p:sp>
        <p:nvSpPr>
          <p:cNvPr id="26" name="TextBox 25"/>
          <p:cNvSpPr txBox="1"/>
          <p:nvPr/>
        </p:nvSpPr>
        <p:spPr>
          <a:xfrm>
            <a:off x="822960" y="5504688"/>
            <a:ext cx="10515600" cy="457200"/>
          </a:xfrm>
          <a:prstGeom prst="rect">
            <a:avLst/>
          </a:prstGeom>
          <a:noFill/>
        </p:spPr>
        <p:txBody>
          <a:bodyPr wrap="square" anchor="t" lIns="54864" rIns="54864" tIns="54864" bIns="54864">
            <a:spAutoFit/>
          </a:bodyPr>
          <a:lstStyle/>
          <a:p>
            <a:pPr algn="ctr">
              <a:spcAft>
                <a:spcPts val="300"/>
              </a:spcAft>
            </a:pPr>
            <a:r>
              <a:rPr sz="1100" b="0">
                <a:solidFill>
                  <a:srgbClr val="5B6372"/>
                </a:solidFill>
                <a:latin typeface="Arial"/>
              </a:rPr>
              <a:t>Detailed click-by-click procedure: Learner Guide and this lab folder · Tools: </a:t>
            </a:r>
            <a:r>
              <a:rPr sz="1100" b="1">
                <a:solidFill>
                  <a:srgbClr val="5B6372"/>
                </a:solidFill>
                <a:latin typeface="Arial"/>
              </a:rPr>
              <a:t>Tableau Desktop · relationships · calculations · charts · dashboards · stories · TWBX</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144</a:t>
            </a:r>
          </a:p>
        </p:txBody>
      </p:sp>
    </p:spTree>
  </p:cSld>
  <p:clrMapOvr>
    <a:masterClrMapping/>
  </p:clrMapOvr>
  <p:transition spd="fast">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VERIFY THE OUTCOME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Lab 10 — Acceptance Test</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1065276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40280"/>
            <a:ext cx="9966960" cy="457200"/>
          </a:xfrm>
          <a:prstGeom prst="rect">
            <a:avLst/>
          </a:prstGeom>
          <a:noFill/>
        </p:spPr>
        <p:txBody>
          <a:bodyPr wrap="square" anchor="t" lIns="54864" rIns="54864" tIns="54864" bIns="54864">
            <a:spAutoFit/>
          </a:bodyPr>
          <a:lstStyle/>
          <a:p>
            <a:pPr algn="l">
              <a:spcAft>
                <a:spcPts val="300"/>
              </a:spcAft>
            </a:pPr>
            <a:r>
              <a:rPr sz="1900" b="1">
                <a:solidFill>
                  <a:srgbClr val="127A3E"/>
                </a:solidFill>
                <a:latin typeface="Arial"/>
              </a:rPr>
              <a:t>✓  Evidence standard</a:t>
            </a:r>
          </a:p>
        </p:txBody>
      </p:sp>
      <p:sp>
        <p:nvSpPr>
          <p:cNvPr id="9" name="TextBox 8"/>
          <p:cNvSpPr txBox="1"/>
          <p:nvPr/>
        </p:nvSpPr>
        <p:spPr>
          <a:xfrm>
            <a:off x="1097280" y="2880360"/>
            <a:ext cx="9875520" cy="1051560"/>
          </a:xfrm>
          <a:prstGeom prst="rect">
            <a:avLst/>
          </a:prstGeom>
          <a:noFill/>
        </p:spPr>
        <p:txBody>
          <a:bodyPr wrap="square" anchor="ctr" lIns="54864" rIns="54864" tIns="54864" bIns="54864">
            <a:spAutoFit/>
          </a:bodyPr>
          <a:lstStyle/>
          <a:p>
            <a:pPr algn="l">
              <a:spcAft>
                <a:spcPts val="300"/>
              </a:spcAft>
            </a:pPr>
            <a:r>
              <a:rPr sz="1600" b="0">
                <a:solidFill>
                  <a:srgbClr val="161B26"/>
                </a:solidFill>
                <a:latin typeface="Arial"/>
              </a:rPr>
              <a:t>Control totals reconcile, the model avoids duplicated measures, all eight worksheets and required analytics exist, dashboard/actions work on desktop and phone, exports are current, and every official objective has evidence.</a:t>
            </a:r>
          </a:p>
        </p:txBody>
      </p:sp>
      <p:sp>
        <p:nvSpPr>
          <p:cNvPr id="10" name="TextBox 9"/>
          <p:cNvSpPr txBox="1"/>
          <p:nvPr/>
        </p:nvSpPr>
        <p:spPr>
          <a:xfrm>
            <a:off x="868680" y="4754880"/>
            <a:ext cx="10424160" cy="64008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Submit the Tableau workbook, requested screenshots/exports and completed acceptance-checklist.md from the lab folder.</a:t>
            </a:r>
          </a:p>
        </p:txBody>
      </p:sp>
      <p:sp>
        <p:nvSpPr>
          <p:cNvPr id="11" name="TextBox 10"/>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2" name="TextBox 11"/>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3" name="TextBox 12"/>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145</a:t>
            </a:r>
          </a:p>
        </p:txBody>
      </p:sp>
    </p:spTree>
  </p:cSld>
  <p:clrMapOvr>
    <a:masterClrMapping/>
  </p:clrMapOvr>
  <p:transition spd="fast">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RECAP</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Topic 04 — Exam Check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Explain</a:t>
            </a:r>
          </a:p>
          <a:p>
            <a:pPr algn="l">
              <a:spcAft>
                <a:spcPts val="300"/>
              </a:spcAft>
            </a:pPr>
            <a:r>
              <a:rPr sz="1200" b="0">
                <a:solidFill>
                  <a:srgbClr val="5B6372"/>
                </a:solidFill>
                <a:latin typeface="Arial"/>
              </a:rPr>
              <a:t>Define the key ideas in understanding tableau concepts and certification preparation.</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Choose</a:t>
            </a:r>
          </a:p>
          <a:p>
            <a:pPr algn="l">
              <a:spcAft>
                <a:spcPts val="300"/>
              </a:spcAft>
            </a:pPr>
            <a:r>
              <a:rPr sz="1200" b="0">
                <a:solidFill>
                  <a:srgbClr val="5B6372"/>
                </a:solidFill>
                <a:latin typeface="Arial"/>
              </a:rPr>
              <a:t>Select the right feature from a short business scenario.</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Predict</a:t>
            </a:r>
          </a:p>
          <a:p>
            <a:pPr algn="l">
              <a:spcAft>
                <a:spcPts val="300"/>
              </a:spcAft>
            </a:pPr>
            <a:r>
              <a:rPr sz="1200" b="0">
                <a:solidFill>
                  <a:srgbClr val="5B6372"/>
                </a:solidFill>
                <a:latin typeface="Arial"/>
              </a:rPr>
              <a:t>Reason about the result of shelf, model or formatting changes.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Prove</a:t>
            </a:r>
          </a:p>
          <a:p>
            <a:pPr algn="l">
              <a:spcAft>
                <a:spcPts val="300"/>
              </a:spcAft>
            </a:pPr>
            <a:r>
              <a:rPr sz="1200" b="0">
                <a:solidFill>
                  <a:srgbClr val="5B6372"/>
                </a:solidFill>
                <a:latin typeface="Arial"/>
              </a:rPr>
              <a:t>Use the lab workbook and acceptance evidence to validate the outcome.</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146</a:t>
            </a:r>
          </a:p>
        </p:txBody>
      </p:sp>
    </p:spTree>
  </p:cSld>
  <p:clrMapOvr>
    <a:masterClrMapping/>
  </p:clrMapOvr>
  <p:transition spd="fast">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14884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148840"/>
            <a:ext cx="9601200" cy="365760"/>
          </a:xfrm>
          <a:prstGeom prst="rect">
            <a:avLst/>
          </a:prstGeom>
          <a:noFill/>
        </p:spPr>
        <p:txBody>
          <a:bodyPr wrap="square" anchor="t" lIns="54864" rIns="54864" tIns="54864" bIns="54864">
            <a:spAutoFit/>
          </a:bodyPr>
          <a:lstStyle/>
          <a:p>
            <a:pPr algn="l">
              <a:spcAft>
                <a:spcPts val="300"/>
              </a:spcAft>
            </a:pPr>
            <a:r>
              <a:rPr sz="1600" b="1">
                <a:solidFill>
                  <a:srgbClr val="1F6FEB"/>
                </a:solidFill>
                <a:latin typeface="Arial"/>
              </a:rPr>
              <a:t>WRAP-UP</a:t>
            </a:r>
          </a:p>
        </p:txBody>
      </p:sp>
      <p:sp>
        <p:nvSpPr>
          <p:cNvPr id="6" name="TextBox 5"/>
          <p:cNvSpPr txBox="1"/>
          <p:nvPr/>
        </p:nvSpPr>
        <p:spPr>
          <a:xfrm>
            <a:off x="1143000" y="2560320"/>
            <a:ext cx="9875520" cy="1463040"/>
          </a:xfrm>
          <a:prstGeom prst="rect">
            <a:avLst/>
          </a:prstGeom>
          <a:noFill/>
        </p:spPr>
        <p:txBody>
          <a:bodyPr wrap="square" anchor="ctr" lIns="54864" rIns="54864" tIns="54864" bIns="54864">
            <a:spAutoFit/>
          </a:bodyPr>
          <a:lstStyle/>
          <a:p>
            <a:pPr algn="l">
              <a:spcAft>
                <a:spcPts val="300"/>
              </a:spcAft>
            </a:pPr>
            <a:r>
              <a:rPr sz="3500" b="1">
                <a:solidFill>
                  <a:srgbClr val="161B26"/>
                </a:solidFill>
                <a:latin typeface="Arial"/>
              </a:rPr>
              <a:t>Certification Preparation &amp; Review</a:t>
            </a:r>
          </a:p>
        </p:txBody>
      </p:sp>
      <p:sp>
        <p:nvSpPr>
          <p:cNvPr id="7" name="TextBox 6"/>
          <p:cNvSpPr txBox="1"/>
          <p:nvPr/>
        </p:nvSpPr>
        <p:spPr>
          <a:xfrm>
            <a:off x="1161288" y="4160520"/>
            <a:ext cx="9692640" cy="640080"/>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Review the official blueprint, practise with the eleven workbooks, then demonstrate evidence</a:t>
            </a:r>
          </a:p>
        </p:txBody>
      </p:sp>
      <p:sp>
        <p:nvSpPr>
          <p:cNvPr id="8" name="TextBox 7"/>
          <p:cNvSpPr txBox="1"/>
          <p:nvPr/>
        </p:nvSpPr>
        <p:spPr>
          <a:xfrm>
            <a:off x="9235440" y="594360"/>
            <a:ext cx="2286000" cy="1371600"/>
          </a:xfrm>
          <a:prstGeom prst="rect">
            <a:avLst/>
          </a:prstGeom>
          <a:noFill/>
        </p:spPr>
        <p:txBody>
          <a:bodyPr wrap="square" anchor="t" lIns="54864" rIns="54864" tIns="54864" bIns="54864">
            <a:spAutoFit/>
          </a:bodyPr>
          <a:lstStyle/>
          <a:p>
            <a:pPr algn="r">
              <a:spcAft>
                <a:spcPts val="300"/>
              </a:spcAft>
            </a:pPr>
            <a:r>
              <a:rPr sz="6400" b="1">
                <a:solidFill>
                  <a:srgbClr val="E2E8F0"/>
                </a:solidFill>
                <a:latin typeface="Arial"/>
              </a:rPr>
              <a:t>99</a:t>
            </a:r>
          </a:p>
        </p:txBody>
      </p:sp>
      <p:sp>
        <p:nvSpPr>
          <p:cNvPr id="9" name="TextBox 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10" name="TextBox 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11" name="TextBox 1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147</a:t>
            </a:r>
          </a:p>
        </p:txBody>
      </p:sp>
    </p:spTree>
  </p:cSld>
  <p:clrMapOvr>
    <a:masterClrMapping/>
  </p:clrMapOvr>
  <p:transition spd="fast">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COURSE SUMMARY</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What You Achieved</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64792"/>
            <a:ext cx="82296" cy="20619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6695" y="2548890"/>
            <a:ext cx="493776" cy="49377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5"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664207"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Connect and prepare</a:t>
            </a:r>
          </a:p>
          <a:p>
            <a:pPr algn="l">
              <a:spcAft>
                <a:spcPts val="300"/>
              </a:spcAft>
            </a:pPr>
            <a:r>
              <a:rPr sz="1200" b="0">
                <a:solidFill>
                  <a:srgbClr val="5B6372"/>
                </a:solidFill>
                <a:latin typeface="Arial"/>
              </a:rPr>
              <a:t>Built trusted connections, extracts, models and metadata.</a:t>
            </a:r>
          </a:p>
        </p:txBody>
      </p:sp>
      <p:sp>
        <p:nvSpPr>
          <p:cNvPr id="12" name="Rectangle 11"/>
          <p:cNvSpPr/>
          <p:nvPr/>
        </p:nvSpPr>
        <p:spPr>
          <a:xfrm>
            <a:off x="6222492" y="1764792"/>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2492" y="1764792"/>
            <a:ext cx="82296" cy="20619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51092" y="2548890"/>
            <a:ext cx="493776" cy="49377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1092" y="2548890"/>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18604" y="1856231"/>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Explore and analyse</a:t>
            </a:r>
          </a:p>
          <a:p>
            <a:pPr algn="l">
              <a:spcAft>
                <a:spcPts val="300"/>
              </a:spcAft>
            </a:pPr>
            <a:r>
              <a:rPr sz="1200" b="0">
                <a:solidFill>
                  <a:srgbClr val="5B6372"/>
                </a:solidFill>
                <a:latin typeface="Arial"/>
              </a:rPr>
              <a:t>Created chart patterns, organisation structures and analytics.</a:t>
            </a:r>
          </a:p>
        </p:txBody>
      </p:sp>
      <p:sp>
        <p:nvSpPr>
          <p:cNvPr id="17" name="Rectangle 16"/>
          <p:cNvSpPr/>
          <p:nvPr/>
        </p:nvSpPr>
        <p:spPr>
          <a:xfrm>
            <a:off x="768096"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 y="4046220"/>
            <a:ext cx="82296" cy="20619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6695" y="4830318"/>
            <a:ext cx="493776" cy="49377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5"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664207"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Share insights</a:t>
            </a:r>
          </a:p>
          <a:p>
            <a:pPr algn="l">
              <a:spcAft>
                <a:spcPts val="300"/>
              </a:spcAft>
            </a:pPr>
            <a:r>
              <a:rPr sz="1200" b="0">
                <a:solidFill>
                  <a:srgbClr val="5B6372"/>
                </a:solidFill>
                <a:latin typeface="Arial"/>
              </a:rPr>
              <a:t>Built dashboards, actions, device layouts and sharing plans.</a:t>
            </a:r>
          </a:p>
        </p:txBody>
      </p:sp>
      <p:sp>
        <p:nvSpPr>
          <p:cNvPr id="22" name="Rectangle 21"/>
          <p:cNvSpPr/>
          <p:nvPr/>
        </p:nvSpPr>
        <p:spPr>
          <a:xfrm>
            <a:off x="6222492" y="4046220"/>
            <a:ext cx="5198364" cy="20619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2492" y="4046220"/>
            <a:ext cx="82296" cy="2061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51092" y="4830318"/>
            <a:ext cx="493776" cy="49377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092" y="4830318"/>
            <a:ext cx="493776" cy="493776"/>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18604" y="4137659"/>
            <a:ext cx="4119372" cy="1897379"/>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Understand concepts</a:t>
            </a:r>
          </a:p>
          <a:p>
            <a:pPr algn="l">
              <a:spcAft>
                <a:spcPts val="300"/>
              </a:spcAft>
            </a:pPr>
            <a:r>
              <a:rPr sz="1200" b="0">
                <a:solidFill>
                  <a:srgbClr val="5B6372"/>
                </a:solidFill>
                <a:latin typeface="Arial"/>
              </a:rPr>
              <a:t>Reasoned from field role, pill behaviour, grain and aggregation.</a:t>
            </a:r>
          </a:p>
        </p:txBody>
      </p:sp>
      <p:sp>
        <p:nvSpPr>
          <p:cNvPr id="27" name="TextBox 2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8" name="TextBox 2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9" name="TextBox 2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148</a:t>
            </a:r>
          </a:p>
        </p:txBody>
      </p:sp>
    </p:spTree>
  </p:cSld>
  <p:clrMapOvr>
    <a:masterClrMapping/>
  </p:clrMapOvr>
  <p:transition spd="fast">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THREE LAYERS</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Certification Readiness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783080"/>
            <a:ext cx="338328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1F6FEB"/>
                </a:solidFill>
                <a:latin typeface="Arial"/>
              </a:rPr>
              <a:t>Know</a:t>
            </a:r>
          </a:p>
        </p:txBody>
      </p:sp>
      <p:sp>
        <p:nvSpPr>
          <p:cNvPr id="10" name="TextBox 9"/>
          <p:cNvSpPr txBox="1"/>
          <p:nvPr/>
        </p:nvSpPr>
        <p:spPr>
          <a:xfrm>
            <a:off x="996695"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Explain every official objective</a:t>
            </a:r>
          </a:p>
        </p:txBody>
      </p:sp>
      <p:sp>
        <p:nvSpPr>
          <p:cNvPr id="11" name="TextBox 10"/>
          <p:cNvSpPr txBox="1"/>
          <p:nvPr/>
        </p:nvSpPr>
        <p:spPr>
          <a:xfrm>
            <a:off x="996695"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Distinguish similar features</a:t>
            </a:r>
          </a:p>
        </p:txBody>
      </p:sp>
      <p:sp>
        <p:nvSpPr>
          <p:cNvPr id="12" name="TextBox 11"/>
          <p:cNvSpPr txBox="1"/>
          <p:nvPr/>
        </p:nvSpPr>
        <p:spPr>
          <a:xfrm>
            <a:off x="996695"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1F6FEB"/>
                </a:solidFill>
                <a:latin typeface="Arial"/>
              </a:rPr>
              <a:t>• </a:t>
            </a:r>
            <a:r>
              <a:rPr sz="1250" b="0">
                <a:solidFill>
                  <a:srgbClr val="161B26"/>
                </a:solidFill>
                <a:latin typeface="Arial"/>
              </a:rPr>
              <a:t>Recognise common pitfalls</a:t>
            </a:r>
          </a:p>
        </p:txBody>
      </p:sp>
      <p:sp>
        <p:nvSpPr>
          <p:cNvPr id="13" name="Rectangle 12"/>
          <p:cNvSpPr/>
          <p:nvPr/>
        </p:nvSpPr>
        <p:spPr>
          <a:xfrm>
            <a:off x="4553712"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53712" y="1783080"/>
            <a:ext cx="338328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10B981"/>
                </a:solidFill>
                <a:latin typeface="Arial"/>
              </a:rPr>
              <a:t>Do</a:t>
            </a:r>
          </a:p>
        </p:txBody>
      </p:sp>
      <p:sp>
        <p:nvSpPr>
          <p:cNvPr id="16" name="TextBox 15"/>
          <p:cNvSpPr txBox="1"/>
          <p:nvPr/>
        </p:nvSpPr>
        <p:spPr>
          <a:xfrm>
            <a:off x="4782312"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Complete all eleven workbooks</a:t>
            </a:r>
          </a:p>
        </p:txBody>
      </p:sp>
      <p:sp>
        <p:nvSpPr>
          <p:cNvPr id="17" name="TextBox 16"/>
          <p:cNvSpPr txBox="1"/>
          <p:nvPr/>
        </p:nvSpPr>
        <p:spPr>
          <a:xfrm>
            <a:off x="4782312"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Rebuild without instructions</a:t>
            </a:r>
          </a:p>
        </p:txBody>
      </p:sp>
      <p:sp>
        <p:nvSpPr>
          <p:cNvPr id="18" name="TextBox 17"/>
          <p:cNvSpPr txBox="1"/>
          <p:nvPr/>
        </p:nvSpPr>
        <p:spPr>
          <a:xfrm>
            <a:off x="4782312"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10B981"/>
                </a:solidFill>
                <a:latin typeface="Arial"/>
              </a:rPr>
              <a:t>• </a:t>
            </a:r>
            <a:r>
              <a:rPr sz="1250" b="0">
                <a:solidFill>
                  <a:srgbClr val="161B26"/>
                </a:solidFill>
                <a:latin typeface="Arial"/>
              </a:rPr>
              <a:t>Validate totals and evidence</a:t>
            </a:r>
          </a:p>
        </p:txBody>
      </p:sp>
      <p:sp>
        <p:nvSpPr>
          <p:cNvPr id="19" name="Rectangle 18"/>
          <p:cNvSpPr/>
          <p:nvPr/>
        </p:nvSpPr>
        <p:spPr>
          <a:xfrm>
            <a:off x="8339327" y="1783080"/>
            <a:ext cx="3383280" cy="4343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39327" y="1783080"/>
            <a:ext cx="338328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2057400"/>
            <a:ext cx="2926080" cy="457200"/>
          </a:xfrm>
          <a:prstGeom prst="rect">
            <a:avLst/>
          </a:prstGeom>
          <a:noFill/>
        </p:spPr>
        <p:txBody>
          <a:bodyPr wrap="square" anchor="t" lIns="54864" rIns="54864" tIns="54864" bIns="54864">
            <a:spAutoFit/>
          </a:bodyPr>
          <a:lstStyle/>
          <a:p>
            <a:pPr algn="l">
              <a:spcAft>
                <a:spcPts val="300"/>
              </a:spcAft>
            </a:pPr>
            <a:r>
              <a:rPr sz="1700" b="1">
                <a:solidFill>
                  <a:srgbClr val="7C3AED"/>
                </a:solidFill>
                <a:latin typeface="Arial"/>
              </a:rPr>
              <a:t>Perform</a:t>
            </a:r>
          </a:p>
        </p:txBody>
      </p:sp>
      <p:sp>
        <p:nvSpPr>
          <p:cNvPr id="22" name="TextBox 21"/>
          <p:cNvSpPr txBox="1"/>
          <p:nvPr/>
        </p:nvSpPr>
        <p:spPr>
          <a:xfrm>
            <a:off x="8567928" y="2743200"/>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Read the full scenario</a:t>
            </a:r>
          </a:p>
        </p:txBody>
      </p:sp>
      <p:sp>
        <p:nvSpPr>
          <p:cNvPr id="23" name="TextBox 22"/>
          <p:cNvSpPr txBox="1"/>
          <p:nvPr/>
        </p:nvSpPr>
        <p:spPr>
          <a:xfrm>
            <a:off x="8567928" y="3438144"/>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Eliminate answers by consequence</a:t>
            </a:r>
          </a:p>
        </p:txBody>
      </p:sp>
      <p:sp>
        <p:nvSpPr>
          <p:cNvPr id="24" name="TextBox 23"/>
          <p:cNvSpPr txBox="1"/>
          <p:nvPr/>
        </p:nvSpPr>
        <p:spPr>
          <a:xfrm>
            <a:off x="8567928" y="4133087"/>
            <a:ext cx="2926080" cy="566928"/>
          </a:xfrm>
          <a:prstGeom prst="rect">
            <a:avLst/>
          </a:prstGeom>
          <a:noFill/>
        </p:spPr>
        <p:txBody>
          <a:bodyPr wrap="square" anchor="ctr" lIns="54864" rIns="54864" tIns="54864" bIns="54864">
            <a:spAutoFit/>
          </a:bodyPr>
          <a:lstStyle/>
          <a:p>
            <a:pPr algn="l">
              <a:spcAft>
                <a:spcPts val="300"/>
              </a:spcAft>
            </a:pPr>
            <a:r>
              <a:rPr sz="1400" b="1">
                <a:solidFill>
                  <a:srgbClr val="7C3AED"/>
                </a:solidFill>
                <a:latin typeface="Arial"/>
              </a:rPr>
              <a:t>• </a:t>
            </a:r>
            <a:r>
              <a:rPr sz="1250" b="0">
                <a:solidFill>
                  <a:srgbClr val="161B26"/>
                </a:solidFill>
                <a:latin typeface="Arial"/>
              </a:rPr>
              <a:t>Manage time across 40 items</a:t>
            </a:r>
          </a:p>
        </p:txBody>
      </p:sp>
      <p:sp>
        <p:nvSpPr>
          <p:cNvPr id="25" name="TextBox 24"/>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6" name="TextBox 25"/>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7" name="TextBox 26"/>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149</a:t>
            </a:r>
          </a:p>
        </p:txBody>
      </p:sp>
    </p:spTree>
  </p:cSld>
  <p:clrMapOvr>
    <a:masterClrMapping/>
  </p:clrMapOvr>
  <p:transition spd="fast">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60-MINUTE EXAM DISCIPLINE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Exam-Day Reasoning</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68096"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6172"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6172"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1</a:t>
            </a:r>
          </a:p>
        </p:txBody>
      </p:sp>
      <p:sp>
        <p:nvSpPr>
          <p:cNvPr id="11" name="TextBox 10"/>
          <p:cNvSpPr txBox="1"/>
          <p:nvPr/>
        </p:nvSpPr>
        <p:spPr>
          <a:xfrm>
            <a:off x="877824"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Identify the requested outcome</a:t>
            </a:r>
          </a:p>
        </p:txBody>
      </p:sp>
      <p:sp>
        <p:nvSpPr>
          <p:cNvPr id="12" name="TextBox 11"/>
          <p:cNvSpPr txBox="1"/>
          <p:nvPr/>
        </p:nvSpPr>
        <p:spPr>
          <a:xfrm>
            <a:off x="2697479"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3" name="Rectangle 12"/>
          <p:cNvSpPr/>
          <p:nvPr/>
        </p:nvSpPr>
        <p:spPr>
          <a:xfrm>
            <a:off x="2944368"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4368"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2444"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2444"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2</a:t>
            </a:r>
          </a:p>
        </p:txBody>
      </p:sp>
      <p:sp>
        <p:nvSpPr>
          <p:cNvPr id="17" name="TextBox 16"/>
          <p:cNvSpPr txBox="1"/>
          <p:nvPr/>
        </p:nvSpPr>
        <p:spPr>
          <a:xfrm>
            <a:off x="3054096"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Name the Tableau layer</a:t>
            </a:r>
          </a:p>
        </p:txBody>
      </p:sp>
      <p:sp>
        <p:nvSpPr>
          <p:cNvPr id="18" name="TextBox 17"/>
          <p:cNvSpPr txBox="1"/>
          <p:nvPr/>
        </p:nvSpPr>
        <p:spPr>
          <a:xfrm>
            <a:off x="4873752"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19" name="Rectangle 18"/>
          <p:cNvSpPr/>
          <p:nvPr/>
        </p:nvSpPr>
        <p:spPr>
          <a:xfrm>
            <a:off x="5120640"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28715"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28715"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3</a:t>
            </a:r>
          </a:p>
        </p:txBody>
      </p:sp>
      <p:sp>
        <p:nvSpPr>
          <p:cNvPr id="23" name="TextBox 22"/>
          <p:cNvSpPr txBox="1"/>
          <p:nvPr/>
        </p:nvSpPr>
        <p:spPr>
          <a:xfrm>
            <a:off x="5230368"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Predict the pill / grain / filter effect</a:t>
            </a:r>
          </a:p>
        </p:txBody>
      </p:sp>
      <p:sp>
        <p:nvSpPr>
          <p:cNvPr id="24" name="TextBox 23"/>
          <p:cNvSpPr txBox="1"/>
          <p:nvPr/>
        </p:nvSpPr>
        <p:spPr>
          <a:xfrm>
            <a:off x="7050024"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25" name="Rectangle 24"/>
          <p:cNvSpPr/>
          <p:nvPr/>
        </p:nvSpPr>
        <p:spPr>
          <a:xfrm>
            <a:off x="7296912"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6912"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4988"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4988"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4</a:t>
            </a:r>
          </a:p>
        </p:txBody>
      </p:sp>
      <p:sp>
        <p:nvSpPr>
          <p:cNvPr id="29" name="TextBox 28"/>
          <p:cNvSpPr txBox="1"/>
          <p:nvPr/>
        </p:nvSpPr>
        <p:spPr>
          <a:xfrm>
            <a:off x="7406640"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Eliminate unsafe choices</a:t>
            </a:r>
          </a:p>
        </p:txBody>
      </p:sp>
      <p:sp>
        <p:nvSpPr>
          <p:cNvPr id="30" name="TextBox 29"/>
          <p:cNvSpPr txBox="1"/>
          <p:nvPr/>
        </p:nvSpPr>
        <p:spPr>
          <a:xfrm>
            <a:off x="9226296" y="3246120"/>
            <a:ext cx="274320" cy="365760"/>
          </a:xfrm>
          <a:prstGeom prst="rect">
            <a:avLst/>
          </a:prstGeom>
          <a:noFill/>
        </p:spPr>
        <p:txBody>
          <a:bodyPr wrap="square" anchor="t" lIns="54864" rIns="54864" tIns="54864" bIns="54864">
            <a:spAutoFit/>
          </a:bodyPr>
          <a:lstStyle/>
          <a:p>
            <a:pPr algn="ctr">
              <a:spcAft>
                <a:spcPts val="300"/>
              </a:spcAft>
            </a:pPr>
            <a:r>
              <a:rPr sz="1200" b="1">
                <a:solidFill>
                  <a:srgbClr val="1F6FEB"/>
                </a:solidFill>
                <a:latin typeface="Arial"/>
              </a:rPr>
              <a:t>▶</a:t>
            </a:r>
          </a:p>
        </p:txBody>
      </p:sp>
      <p:sp>
        <p:nvSpPr>
          <p:cNvPr id="31" name="Rectangle 30"/>
          <p:cNvSpPr/>
          <p:nvPr/>
        </p:nvSpPr>
        <p:spPr>
          <a:xfrm>
            <a:off x="9473184" y="2057400"/>
            <a:ext cx="1947672" cy="2971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73184" y="2057400"/>
            <a:ext cx="194767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81259" y="2423160"/>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1259" y="2423160"/>
            <a:ext cx="731520" cy="731520"/>
          </a:xfrm>
          <a:prstGeom prst="rect">
            <a:avLst/>
          </a:prstGeom>
          <a:noFill/>
        </p:spPr>
        <p:txBody>
          <a:bodyPr wrap="square" anchor="ctr" lIns="54864" rIns="54864" tIns="54864" bIns="54864">
            <a:spAutoFit/>
          </a:bodyPr>
          <a:lstStyle/>
          <a:p>
            <a:pPr algn="ctr">
              <a:spcAft>
                <a:spcPts val="300"/>
              </a:spcAft>
            </a:pPr>
            <a:r>
              <a:rPr sz="2400" b="1">
                <a:solidFill>
                  <a:srgbClr val="FFFFFF"/>
                </a:solidFill>
                <a:latin typeface="Arial"/>
              </a:rPr>
              <a:t>5</a:t>
            </a:r>
          </a:p>
        </p:txBody>
      </p:sp>
      <p:sp>
        <p:nvSpPr>
          <p:cNvPr id="35" name="TextBox 34"/>
          <p:cNvSpPr txBox="1"/>
          <p:nvPr/>
        </p:nvSpPr>
        <p:spPr>
          <a:xfrm>
            <a:off x="9582911" y="3429000"/>
            <a:ext cx="1728216" cy="1143000"/>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Answer and move on</a:t>
            </a:r>
          </a:p>
        </p:txBody>
      </p:sp>
      <p:sp>
        <p:nvSpPr>
          <p:cNvPr id="36" name="TextBox 35"/>
          <p:cNvSpPr txBox="1"/>
          <p:nvPr/>
        </p:nvSpPr>
        <p:spPr>
          <a:xfrm>
            <a:off x="777240" y="5394960"/>
            <a:ext cx="10607040" cy="411480"/>
          </a:xfrm>
          <a:prstGeom prst="rect">
            <a:avLst/>
          </a:prstGeom>
          <a:noFill/>
        </p:spPr>
        <p:txBody>
          <a:bodyPr wrap="square" anchor="t" lIns="54864" rIns="54864" tIns="54864" bIns="54864">
            <a:spAutoFit/>
          </a:bodyPr>
          <a:lstStyle/>
          <a:p>
            <a:pPr algn="ctr">
              <a:spcAft>
                <a:spcPts val="300"/>
              </a:spcAft>
            </a:pPr>
            <a:r>
              <a:rPr sz="1250" b="0">
                <a:solidFill>
                  <a:srgbClr val="5B6372"/>
                </a:solidFill>
                <a:latin typeface="Arial"/>
              </a:rPr>
              <a:t>Official guide states 40 multiple-choice/multiple-select items and no outside materials.</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150</a:t>
            </a:r>
          </a:p>
        </p:txBody>
      </p:sp>
    </p:spTree>
  </p:cSld>
  <p:clrMapOvr>
    <a:masterClrMapping/>
  </p:clrMapOvr>
  <p:transition spd="fast">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CERTIFICATION PREPARATION</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Official Preparation Resources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Read the complete Salesforce Certified Tableau Desktop Specialist exam guide and objective list.</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Use Tableau's free Desktop training videos for connection, workspace, concepts, dashboards, mapping and calculations.</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Repeat each lab with a clean workbook until the objective is automatic.</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Use the Exam Domain Matrix in Lab 10 to locate weak areas.</a:t>
            </a:r>
          </a:p>
        </p:txBody>
      </p:sp>
      <p:sp>
        <p:nvSpPr>
          <p:cNvPr id="19" name="Oval 18"/>
          <p:cNvSpPr/>
          <p:nvPr/>
        </p:nvSpPr>
        <p:spPr>
          <a:xfrm>
            <a:off x="822960" y="4453128"/>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453128"/>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5</a:t>
            </a:r>
          </a:p>
        </p:txBody>
      </p:sp>
      <p:sp>
        <p:nvSpPr>
          <p:cNvPr id="21" name="TextBox 20"/>
          <p:cNvSpPr txBox="1"/>
          <p:nvPr/>
        </p:nvSpPr>
        <p:spPr>
          <a:xfrm>
            <a:off x="1417320" y="4425696"/>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Finish with the exact Tableau Desktop Specialist practice-exam link on the practice-exam slide.</a:t>
            </a:r>
          </a:p>
        </p:txBody>
      </p:sp>
      <p:sp>
        <p:nvSpPr>
          <p:cNvPr id="22" name="TextBox 2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3" name="TextBox 2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4" name="TextBox 2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151</a:t>
            </a:r>
          </a:p>
        </p:txBody>
      </p:sp>
    </p:spTree>
  </p:cSld>
  <p:clrMapOvr>
    <a:masterClrMapping/>
  </p:clrMapOvr>
  <p:transition spd="fast">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SALESFORCE CERTIFIED TABLEAU DESKTOP SPECIALIST</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Official Certification Exam Details</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83080"/>
            <a:ext cx="2514600"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9808" y="1783080"/>
            <a:ext cx="73152"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01952"/>
            <a:ext cx="2057400" cy="384048"/>
          </a:xfrm>
          <a:prstGeom prst="rect">
            <a:avLst/>
          </a:prstGeom>
          <a:noFill/>
        </p:spPr>
        <p:txBody>
          <a:bodyPr wrap="square" anchor="t" lIns="54864" rIns="54864" tIns="54864" bIns="54864">
            <a:spAutoFit/>
          </a:bodyPr>
          <a:lstStyle/>
          <a:p>
            <a:pPr algn="l">
              <a:spcAft>
                <a:spcPts val="300"/>
              </a:spcAft>
            </a:pPr>
            <a:r>
              <a:rPr sz="2000" b="1">
                <a:solidFill>
                  <a:srgbClr val="1F6FEB"/>
                </a:solidFill>
                <a:latin typeface="Arial"/>
              </a:rPr>
              <a:t>40 + up to 5</a:t>
            </a:r>
          </a:p>
        </p:txBody>
      </p:sp>
      <p:sp>
        <p:nvSpPr>
          <p:cNvPr id="10" name="TextBox 9"/>
          <p:cNvSpPr txBox="1"/>
          <p:nvPr/>
        </p:nvSpPr>
        <p:spPr>
          <a:xfrm>
            <a:off x="1005840" y="2331720"/>
            <a:ext cx="2057400" cy="256032"/>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MC / MS items</a:t>
            </a:r>
          </a:p>
        </p:txBody>
      </p:sp>
      <p:sp>
        <p:nvSpPr>
          <p:cNvPr id="11" name="Rectangle 10"/>
          <p:cNvSpPr/>
          <p:nvPr/>
        </p:nvSpPr>
        <p:spPr>
          <a:xfrm>
            <a:off x="3566160" y="1783080"/>
            <a:ext cx="2514600"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66160" y="1783080"/>
            <a:ext cx="73152"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22191" y="1901952"/>
            <a:ext cx="2057400" cy="384048"/>
          </a:xfrm>
          <a:prstGeom prst="rect">
            <a:avLst/>
          </a:prstGeom>
          <a:noFill/>
        </p:spPr>
        <p:txBody>
          <a:bodyPr wrap="square" anchor="t" lIns="54864" rIns="54864" tIns="54864" bIns="54864">
            <a:spAutoFit/>
          </a:bodyPr>
          <a:lstStyle/>
          <a:p>
            <a:pPr algn="l">
              <a:spcAft>
                <a:spcPts val="300"/>
              </a:spcAft>
            </a:pPr>
            <a:r>
              <a:rPr sz="2000" b="1">
                <a:solidFill>
                  <a:srgbClr val="10B981"/>
                </a:solidFill>
                <a:latin typeface="Arial"/>
              </a:rPr>
              <a:t>70 min</a:t>
            </a:r>
          </a:p>
        </p:txBody>
      </p:sp>
      <p:sp>
        <p:nvSpPr>
          <p:cNvPr id="14" name="TextBox 13"/>
          <p:cNvSpPr txBox="1"/>
          <p:nvPr/>
        </p:nvSpPr>
        <p:spPr>
          <a:xfrm>
            <a:off x="3822191" y="2331720"/>
            <a:ext cx="2057400" cy="256032"/>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Time limit</a:t>
            </a:r>
          </a:p>
        </p:txBody>
      </p:sp>
      <p:sp>
        <p:nvSpPr>
          <p:cNvPr id="15" name="Rectangle 14"/>
          <p:cNvSpPr/>
          <p:nvPr/>
        </p:nvSpPr>
        <p:spPr>
          <a:xfrm>
            <a:off x="6382512" y="1783080"/>
            <a:ext cx="2514600"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82512" y="1783080"/>
            <a:ext cx="73152"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38544" y="1901952"/>
            <a:ext cx="2057400" cy="384048"/>
          </a:xfrm>
          <a:prstGeom prst="rect">
            <a:avLst/>
          </a:prstGeom>
          <a:noFill/>
        </p:spPr>
        <p:txBody>
          <a:bodyPr wrap="square" anchor="t" lIns="54864" rIns="54864" tIns="54864" bIns="54864">
            <a:spAutoFit/>
          </a:bodyPr>
          <a:lstStyle/>
          <a:p>
            <a:pPr algn="l">
              <a:spcAft>
                <a:spcPts val="300"/>
              </a:spcAft>
            </a:pPr>
            <a:r>
              <a:rPr sz="2000" b="1">
                <a:solidFill>
                  <a:srgbClr val="7C3AED"/>
                </a:solidFill>
                <a:latin typeface="Arial"/>
              </a:rPr>
              <a:t>48%</a:t>
            </a:r>
          </a:p>
        </p:txBody>
      </p:sp>
      <p:sp>
        <p:nvSpPr>
          <p:cNvPr id="18" name="TextBox 17"/>
          <p:cNvSpPr txBox="1"/>
          <p:nvPr/>
        </p:nvSpPr>
        <p:spPr>
          <a:xfrm>
            <a:off x="6638544" y="2331720"/>
            <a:ext cx="2057400" cy="256032"/>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English pass score</a:t>
            </a:r>
          </a:p>
        </p:txBody>
      </p:sp>
      <p:sp>
        <p:nvSpPr>
          <p:cNvPr id="19" name="Rectangle 18"/>
          <p:cNvSpPr/>
          <p:nvPr/>
        </p:nvSpPr>
        <p:spPr>
          <a:xfrm>
            <a:off x="9198864" y="1783080"/>
            <a:ext cx="2514600"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98864" y="1783080"/>
            <a:ext cx="73152"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54896" y="1901952"/>
            <a:ext cx="2057400" cy="384048"/>
          </a:xfrm>
          <a:prstGeom prst="rect">
            <a:avLst/>
          </a:prstGeom>
          <a:noFill/>
        </p:spPr>
        <p:txBody>
          <a:bodyPr wrap="square" anchor="t" lIns="54864" rIns="54864" tIns="54864" bIns="54864">
            <a:spAutoFit/>
          </a:bodyPr>
          <a:lstStyle/>
          <a:p>
            <a:pPr algn="l">
              <a:spcAft>
                <a:spcPts val="300"/>
              </a:spcAft>
            </a:pPr>
            <a:r>
              <a:rPr sz="2000" b="1">
                <a:solidFill>
                  <a:srgbClr val="F59E0B"/>
                </a:solidFill>
                <a:latin typeface="Arial"/>
              </a:rPr>
              <a:t>USD 75</a:t>
            </a:r>
          </a:p>
        </p:txBody>
      </p:sp>
      <p:sp>
        <p:nvSpPr>
          <p:cNvPr id="22" name="TextBox 21"/>
          <p:cNvSpPr txBox="1"/>
          <p:nvPr/>
        </p:nvSpPr>
        <p:spPr>
          <a:xfrm>
            <a:off x="9454896" y="2331720"/>
            <a:ext cx="2057400" cy="256032"/>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Registration fee</a:t>
            </a:r>
          </a:p>
        </p:txBody>
      </p:sp>
      <p:sp>
        <p:nvSpPr>
          <p:cNvPr id="23" name="Oval 22"/>
          <p:cNvSpPr/>
          <p:nvPr/>
        </p:nvSpPr>
        <p:spPr>
          <a:xfrm>
            <a:off x="777240" y="3246120"/>
            <a:ext cx="1078992" cy="107899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547872"/>
            <a:ext cx="1078992" cy="384048"/>
          </a:xfrm>
          <a:prstGeom prst="rect">
            <a:avLst/>
          </a:prstGeom>
          <a:noFill/>
        </p:spPr>
        <p:txBody>
          <a:bodyPr wrap="square" anchor="t" lIns="54864" rIns="54864" tIns="54864" bIns="54864">
            <a:spAutoFit/>
          </a:bodyPr>
          <a:lstStyle/>
          <a:p>
            <a:pPr algn="ctr">
              <a:spcAft>
                <a:spcPts val="300"/>
              </a:spcAft>
            </a:pPr>
            <a:r>
              <a:rPr sz="2000" b="1">
                <a:solidFill>
                  <a:srgbClr val="FFFFFF"/>
                </a:solidFill>
                <a:latin typeface="Arial"/>
              </a:rPr>
              <a:t>23%</a:t>
            </a:r>
          </a:p>
        </p:txBody>
      </p:sp>
      <p:sp>
        <p:nvSpPr>
          <p:cNvPr id="25" name="TextBox 24"/>
          <p:cNvSpPr txBox="1"/>
          <p:nvPr/>
        </p:nvSpPr>
        <p:spPr>
          <a:xfrm>
            <a:off x="2002536" y="3310128"/>
            <a:ext cx="1234440" cy="960120"/>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Connect &amp; prepare</a:t>
            </a:r>
          </a:p>
        </p:txBody>
      </p:sp>
      <p:sp>
        <p:nvSpPr>
          <p:cNvPr id="26" name="Oval 25"/>
          <p:cNvSpPr/>
          <p:nvPr/>
        </p:nvSpPr>
        <p:spPr>
          <a:xfrm>
            <a:off x="3593592" y="3246120"/>
            <a:ext cx="1078992" cy="10789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93592" y="3547872"/>
            <a:ext cx="1078992" cy="384048"/>
          </a:xfrm>
          <a:prstGeom prst="rect">
            <a:avLst/>
          </a:prstGeom>
          <a:noFill/>
        </p:spPr>
        <p:txBody>
          <a:bodyPr wrap="square" anchor="t" lIns="54864" rIns="54864" tIns="54864" bIns="54864">
            <a:spAutoFit/>
          </a:bodyPr>
          <a:lstStyle/>
          <a:p>
            <a:pPr algn="ctr">
              <a:spcAft>
                <a:spcPts val="300"/>
              </a:spcAft>
            </a:pPr>
            <a:r>
              <a:rPr sz="2000" b="1">
                <a:solidFill>
                  <a:srgbClr val="FFFFFF"/>
                </a:solidFill>
                <a:latin typeface="Arial"/>
              </a:rPr>
              <a:t>37%</a:t>
            </a:r>
          </a:p>
        </p:txBody>
      </p:sp>
      <p:sp>
        <p:nvSpPr>
          <p:cNvPr id="28" name="TextBox 27"/>
          <p:cNvSpPr txBox="1"/>
          <p:nvPr/>
        </p:nvSpPr>
        <p:spPr>
          <a:xfrm>
            <a:off x="4818888" y="3310128"/>
            <a:ext cx="1234440" cy="960120"/>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Explore &amp; analyse</a:t>
            </a:r>
          </a:p>
        </p:txBody>
      </p:sp>
      <p:sp>
        <p:nvSpPr>
          <p:cNvPr id="29" name="Oval 28"/>
          <p:cNvSpPr/>
          <p:nvPr/>
        </p:nvSpPr>
        <p:spPr>
          <a:xfrm>
            <a:off x="6409944" y="3246120"/>
            <a:ext cx="1078992" cy="107899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9944" y="3547872"/>
            <a:ext cx="1078992" cy="384048"/>
          </a:xfrm>
          <a:prstGeom prst="rect">
            <a:avLst/>
          </a:prstGeom>
          <a:noFill/>
        </p:spPr>
        <p:txBody>
          <a:bodyPr wrap="square" anchor="t" lIns="54864" rIns="54864" tIns="54864" bIns="54864">
            <a:spAutoFit/>
          </a:bodyPr>
          <a:lstStyle/>
          <a:p>
            <a:pPr algn="ctr">
              <a:spcAft>
                <a:spcPts val="300"/>
              </a:spcAft>
            </a:pPr>
            <a:r>
              <a:rPr sz="2000" b="1">
                <a:solidFill>
                  <a:srgbClr val="FFFFFF"/>
                </a:solidFill>
                <a:latin typeface="Arial"/>
              </a:rPr>
              <a:t>25%</a:t>
            </a:r>
          </a:p>
        </p:txBody>
      </p:sp>
      <p:sp>
        <p:nvSpPr>
          <p:cNvPr id="31" name="TextBox 30"/>
          <p:cNvSpPr txBox="1"/>
          <p:nvPr/>
        </p:nvSpPr>
        <p:spPr>
          <a:xfrm>
            <a:off x="7635240" y="3310128"/>
            <a:ext cx="1234440" cy="960120"/>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Share insights</a:t>
            </a:r>
          </a:p>
        </p:txBody>
      </p:sp>
      <p:sp>
        <p:nvSpPr>
          <p:cNvPr id="32" name="Oval 31"/>
          <p:cNvSpPr/>
          <p:nvPr/>
        </p:nvSpPr>
        <p:spPr>
          <a:xfrm>
            <a:off x="9226296" y="3246120"/>
            <a:ext cx="1078992" cy="10789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26296" y="3547872"/>
            <a:ext cx="1078992" cy="384048"/>
          </a:xfrm>
          <a:prstGeom prst="rect">
            <a:avLst/>
          </a:prstGeom>
          <a:noFill/>
        </p:spPr>
        <p:txBody>
          <a:bodyPr wrap="square" anchor="t" lIns="54864" rIns="54864" tIns="54864" bIns="54864">
            <a:spAutoFit/>
          </a:bodyPr>
          <a:lstStyle/>
          <a:p>
            <a:pPr algn="ctr">
              <a:spcAft>
                <a:spcPts val="300"/>
              </a:spcAft>
            </a:pPr>
            <a:r>
              <a:rPr sz="2000" b="1">
                <a:solidFill>
                  <a:srgbClr val="FFFFFF"/>
                </a:solidFill>
                <a:latin typeface="Arial"/>
              </a:rPr>
              <a:t>15%</a:t>
            </a:r>
          </a:p>
        </p:txBody>
      </p:sp>
      <p:sp>
        <p:nvSpPr>
          <p:cNvPr id="34" name="TextBox 33"/>
          <p:cNvSpPr txBox="1"/>
          <p:nvPr/>
        </p:nvSpPr>
        <p:spPr>
          <a:xfrm>
            <a:off x="10451592" y="3310128"/>
            <a:ext cx="1234440" cy="960120"/>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Tableau concepts</a:t>
            </a:r>
          </a:p>
        </p:txBody>
      </p:sp>
      <p:sp>
        <p:nvSpPr>
          <p:cNvPr id="35" name="TextBox 34"/>
          <p:cNvSpPr txBox="1"/>
          <p:nvPr/>
        </p:nvSpPr>
        <p:spPr>
          <a:xfrm>
            <a:off x="868680" y="4709160"/>
            <a:ext cx="10332720" cy="658368"/>
          </a:xfrm>
          <a:prstGeom prst="rect">
            <a:avLst/>
          </a:prstGeom>
          <a:noFill/>
        </p:spPr>
        <p:txBody>
          <a:bodyPr wrap="square" anchor="ctr" lIns="54864" rIns="54864" tIns="54864" bIns="54864">
            <a:spAutoFit/>
          </a:bodyPr>
          <a:lstStyle/>
          <a:p>
            <a:pPr algn="ctr">
              <a:spcAft>
                <a:spcPts val="300"/>
              </a:spcAft>
            </a:pPr>
            <a:r>
              <a:rPr sz="1250" b="0">
                <a:solidFill>
                  <a:srgbClr val="161B26"/>
                </a:solidFill>
                <a:latin typeface="Arial"/>
              </a:rPr>
              <a:t>No prerequisite · Product version 2022.3 · No hard-copy or online references · Retake fee: free</a:t>
            </a:r>
          </a:p>
        </p:txBody>
      </p:sp>
      <p:sp>
        <p:nvSpPr>
          <p:cNvPr id="36" name="TextBox 35"/>
          <p:cNvSpPr txBox="1"/>
          <p:nvPr/>
        </p:nvSpPr>
        <p:spPr>
          <a:xfrm>
            <a:off x="868680" y="5596128"/>
            <a:ext cx="10332720" cy="384048"/>
          </a:xfrm>
          <a:prstGeom prst="rect">
            <a:avLst/>
          </a:prstGeom>
          <a:noFill/>
        </p:spPr>
        <p:txBody>
          <a:bodyPr wrap="square" anchor="t" lIns="54864" rIns="54864" tIns="54864" bIns="54864">
            <a:spAutoFit/>
          </a:bodyPr>
          <a:lstStyle/>
          <a:p>
            <a:pPr algn="ctr">
              <a:spcAft>
                <a:spcPts val="300"/>
              </a:spcAft>
            </a:pPr>
            <a:r>
              <a:rPr sz="1050" b="0">
                <a:solidFill>
                  <a:srgbClr val="5B6372"/>
                </a:solidFill>
                <a:latin typeface="Arial"/>
              </a:rPr>
              <a:t>Always confirm registration details on Salesforce before booking; fees and policies can change.</a:t>
            </a:r>
          </a:p>
        </p:txBody>
      </p:sp>
      <p:sp>
        <p:nvSpPr>
          <p:cNvPr id="37" name="TextBox 3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8" name="TextBox 3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9" name="TextBox 3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152</a:t>
            </a:r>
          </a:p>
        </p:txBody>
      </p:sp>
    </p:spTree>
  </p:cSld>
  <p:clrMapOvr>
    <a:masterClrMapping/>
  </p:clrMapOvr>
  <p:transition spd="fast">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COURSE FEEDBACK</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Course Feedback</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783080"/>
            <a:ext cx="384048" cy="3840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1</a:t>
            </a:r>
          </a:p>
        </p:txBody>
      </p:sp>
      <p:sp>
        <p:nvSpPr>
          <p:cNvPr id="9" name="TextBox 8"/>
          <p:cNvSpPr txBox="1"/>
          <p:nvPr/>
        </p:nvSpPr>
        <p:spPr>
          <a:xfrm>
            <a:off x="1417320" y="1755648"/>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Tell us what worked well and what could be clearer.</a:t>
            </a:r>
          </a:p>
        </p:txBody>
      </p:sp>
      <p:sp>
        <p:nvSpPr>
          <p:cNvPr id="10" name="Oval 9"/>
          <p:cNvSpPr/>
          <p:nvPr/>
        </p:nvSpPr>
        <p:spPr>
          <a:xfrm>
            <a:off x="822960" y="2450591"/>
            <a:ext cx="384048" cy="38404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0591"/>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2</a:t>
            </a:r>
          </a:p>
        </p:txBody>
      </p:sp>
      <p:sp>
        <p:nvSpPr>
          <p:cNvPr id="12" name="TextBox 11"/>
          <p:cNvSpPr txBox="1"/>
          <p:nvPr/>
        </p:nvSpPr>
        <p:spPr>
          <a:xfrm>
            <a:off x="1417320" y="2423160"/>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Use the feedback link or QR code shared by your trainer.</a:t>
            </a:r>
          </a:p>
        </p:txBody>
      </p:sp>
      <p:sp>
        <p:nvSpPr>
          <p:cNvPr id="13" name="Oval 12"/>
          <p:cNvSpPr/>
          <p:nvPr/>
        </p:nvSpPr>
        <p:spPr>
          <a:xfrm>
            <a:off x="822960" y="3118104"/>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118104"/>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3</a:t>
            </a:r>
          </a:p>
        </p:txBody>
      </p:sp>
      <p:sp>
        <p:nvSpPr>
          <p:cNvPr id="15" name="TextBox 14"/>
          <p:cNvSpPr txBox="1"/>
          <p:nvPr/>
        </p:nvSpPr>
        <p:spPr>
          <a:xfrm>
            <a:off x="1417320" y="3090672"/>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Rate the content, labs, pacing and trainer delivery.</a:t>
            </a:r>
          </a:p>
        </p:txBody>
      </p:sp>
      <p:sp>
        <p:nvSpPr>
          <p:cNvPr id="16" name="Oval 15"/>
          <p:cNvSpPr/>
          <p:nvPr/>
        </p:nvSpPr>
        <p:spPr>
          <a:xfrm>
            <a:off x="822960" y="3785615"/>
            <a:ext cx="384048" cy="38404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785615"/>
            <a:ext cx="384048" cy="384048"/>
          </a:xfrm>
          <a:prstGeom prst="rect">
            <a:avLst/>
          </a:prstGeom>
          <a:noFill/>
        </p:spPr>
        <p:txBody>
          <a:bodyPr wrap="square" anchor="ctr" lIns="54864" rIns="54864" tIns="54864" bIns="54864">
            <a:spAutoFit/>
          </a:bodyPr>
          <a:lstStyle/>
          <a:p>
            <a:pPr algn="ctr">
              <a:spcAft>
                <a:spcPts val="300"/>
              </a:spcAft>
            </a:pPr>
            <a:r>
              <a:rPr sz="1300" b="1">
                <a:solidFill>
                  <a:srgbClr val="FFFFFF"/>
                </a:solidFill>
                <a:latin typeface="Arial"/>
              </a:rPr>
              <a:t>4</a:t>
            </a:r>
          </a:p>
        </p:txBody>
      </p:sp>
      <p:sp>
        <p:nvSpPr>
          <p:cNvPr id="18" name="TextBox 17"/>
          <p:cNvSpPr txBox="1"/>
          <p:nvPr/>
        </p:nvSpPr>
        <p:spPr>
          <a:xfrm>
            <a:off x="1417320" y="3758183"/>
            <a:ext cx="9875520" cy="530352"/>
          </a:xfrm>
          <a:prstGeom prst="rect">
            <a:avLst/>
          </a:prstGeom>
          <a:noFill/>
        </p:spPr>
        <p:txBody>
          <a:bodyPr wrap="square" anchor="ctr" lIns="54864" rIns="54864" tIns="54864" bIns="54864">
            <a:spAutoFit/>
          </a:bodyPr>
          <a:lstStyle/>
          <a:p>
            <a:pPr algn="l">
              <a:spcAft>
                <a:spcPts val="300"/>
              </a:spcAft>
            </a:pPr>
            <a:r>
              <a:rPr sz="1500" b="0">
                <a:solidFill>
                  <a:srgbClr val="161B26"/>
                </a:solidFill>
                <a:latin typeface="Arial"/>
              </a:rPr>
              <a:t>Your comments help us improve future runs of this course.</a:t>
            </a:r>
          </a:p>
        </p:txBody>
      </p:sp>
      <p:sp>
        <p:nvSpPr>
          <p:cNvPr id="19" name="TextBox 18"/>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20" name="TextBox 19"/>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21" name="TextBox 20"/>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154</a:t>
            </a:r>
          </a:p>
        </p:txBody>
      </p:sp>
    </p:spTree>
  </p:cSld>
  <p:clrMapOvr>
    <a:masterClrMapping/>
  </p:clrMapOvr>
  <p:transition spd="fast">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60120" y="1920240"/>
            <a:ext cx="10058400" cy="365760"/>
          </a:xfrm>
          <a:prstGeom prst="rect">
            <a:avLst/>
          </a:prstGeom>
          <a:noFill/>
        </p:spPr>
        <p:txBody>
          <a:bodyPr wrap="square" anchor="t" lIns="54864" rIns="54864" tIns="54864" bIns="54864">
            <a:spAutoFit/>
          </a:bodyPr>
          <a:lstStyle/>
          <a:p>
            <a:pPr algn="l">
              <a:spcAft>
                <a:spcPts val="300"/>
              </a:spcAft>
            </a:pPr>
            <a:r>
              <a:rPr sz="1400" b="1">
                <a:solidFill>
                  <a:srgbClr val="10B981"/>
                </a:solidFill>
                <a:latin typeface="Arial"/>
              </a:rPr>
              <a:t>TABLEAU DESKTOP SPECIALIST</a:t>
            </a:r>
          </a:p>
        </p:txBody>
      </p:sp>
      <p:sp>
        <p:nvSpPr>
          <p:cNvPr id="5" name="TextBox 4"/>
          <p:cNvSpPr txBox="1"/>
          <p:nvPr/>
        </p:nvSpPr>
        <p:spPr>
          <a:xfrm>
            <a:off x="960120" y="2423160"/>
            <a:ext cx="10241280" cy="1645920"/>
          </a:xfrm>
          <a:prstGeom prst="rect">
            <a:avLst/>
          </a:prstGeom>
          <a:noFill/>
        </p:spPr>
        <p:txBody>
          <a:bodyPr wrap="square" anchor="ctr" lIns="54864" rIns="54864" tIns="54864" bIns="54864">
            <a:spAutoFit/>
          </a:bodyPr>
          <a:lstStyle/>
          <a:p>
            <a:pPr algn="l">
              <a:spcAft>
                <a:spcPts val="300"/>
              </a:spcAft>
            </a:pPr>
            <a:r>
              <a:rPr sz="3200" b="1">
                <a:solidFill>
                  <a:srgbClr val="161B26"/>
                </a:solidFill>
                <a:latin typeface="Arial"/>
              </a:rPr>
              <a:t>Thank you — build the evidence, not just the view.</a:t>
            </a:r>
          </a:p>
        </p:txBody>
      </p:sp>
      <p:sp>
        <p:nvSpPr>
          <p:cNvPr id="6" name="TextBox 5"/>
          <p:cNvSpPr txBox="1"/>
          <p:nvPr/>
        </p:nvSpPr>
        <p:spPr>
          <a:xfrm>
            <a:off x="987552" y="4251960"/>
            <a:ext cx="10058400" cy="914400"/>
          </a:xfrm>
          <a:prstGeom prst="rect">
            <a:avLst/>
          </a:prstGeom>
          <a:noFill/>
        </p:spPr>
        <p:txBody>
          <a:bodyPr wrap="square" anchor="t" lIns="54864" rIns="54864" tIns="54864" bIns="54864">
            <a:spAutoFit/>
          </a:bodyPr>
          <a:lstStyle/>
          <a:p>
            <a:pPr algn="l">
              <a:spcAft>
                <a:spcPts val="300"/>
              </a:spcAft>
            </a:pPr>
            <a:r>
              <a:rPr sz="1700" b="0">
                <a:solidFill>
                  <a:srgbClr val="5B6372"/>
                </a:solidFill>
                <a:latin typeface="Arial"/>
              </a:rPr>
              <a:t>A trusted Tableau insight connects the right data, uses the right grain, communicates clearly and survives validation.</a:t>
            </a:r>
          </a:p>
        </p:txBody>
      </p:sp>
      <p:sp>
        <p:nvSpPr>
          <p:cNvPr id="7" name="TextBox 6"/>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8" name="TextBox 7"/>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9" name="TextBox 8"/>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155</a:t>
            </a:r>
          </a:p>
        </p:txBody>
      </p:sp>
    </p:spTree>
  </p:cSld>
  <p:clrMapOvr>
    <a:masterClrMapping/>
  </p:clrMapOvr>
  <p:transition spd="fast">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37744"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47472"/>
            <a:ext cx="1069848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EXAMNOVA · ORIGINAL BLUEPRINT-ALIGNED PRACTICE</a:t>
            </a:r>
          </a:p>
        </p:txBody>
      </p:sp>
      <p:sp>
        <p:nvSpPr>
          <p:cNvPr id="5" name="TextBox 4"/>
          <p:cNvSpPr txBox="1"/>
          <p:nvPr/>
        </p:nvSpPr>
        <p:spPr>
          <a:xfrm>
            <a:off x="749808" y="713232"/>
            <a:ext cx="10744200" cy="731520"/>
          </a:xfrm>
          <a:prstGeom prst="rect">
            <a:avLst/>
          </a:prstGeom>
          <a:noFill/>
        </p:spPr>
        <p:txBody>
          <a:bodyPr wrap="square" anchor="ctr" lIns="54864" rIns="54864" tIns="54864" bIns="54864">
            <a:spAutoFit/>
          </a:bodyPr>
          <a:lstStyle/>
          <a:p>
            <a:pPr algn="l">
              <a:spcAft>
                <a:spcPts val="300"/>
              </a:spcAft>
            </a:pPr>
            <a:r>
              <a:rPr sz="2700" b="1">
                <a:solidFill>
                  <a:srgbClr val="161B26"/>
                </a:solidFill>
                <a:latin typeface="Arial"/>
              </a:rPr>
              <a:t>Tableau Desktop Specialist Practice Exam</a:t>
            </a:r>
          </a:p>
        </p:txBody>
      </p:sp>
      <p:sp>
        <p:nvSpPr>
          <p:cNvPr id="6" name="Rectangle 5"/>
          <p:cNvSpPr/>
          <p:nvPr/>
        </p:nvSpPr>
        <p:spPr>
          <a:xfrm>
            <a:off x="749808" y="1536192"/>
            <a:ext cx="1069848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ableau-practice-exam-qr.png"/>
          <p:cNvPicPr>
            <a:picLocks noChangeAspect="1"/>
          </p:cNvPicPr>
          <p:nvPr/>
        </p:nvPicPr>
        <p:blipFill>
          <a:blip r:embed="rId2"/>
          <a:stretch>
            <a:fillRect/>
          </a:stretch>
        </p:blipFill>
        <p:spPr>
          <a:xfrm>
            <a:off x="841248" y="1828800"/>
            <a:ext cx="2423160" cy="2423160"/>
          </a:xfrm>
          <a:prstGeom prst="rect">
            <a:avLst/>
          </a:prstGeom>
        </p:spPr>
      </p:pic>
      <p:sp>
        <p:nvSpPr>
          <p:cNvPr id="8" name="TextBox 7"/>
          <p:cNvSpPr txBox="1"/>
          <p:nvPr/>
        </p:nvSpPr>
        <p:spPr>
          <a:xfrm>
            <a:off x="841248" y="4434840"/>
            <a:ext cx="2423160" cy="566928"/>
          </a:xfrm>
          <a:prstGeom prst="rect">
            <a:avLst/>
          </a:prstGeom>
          <a:noFill/>
        </p:spPr>
        <p:txBody>
          <a:bodyPr wrap="square" anchor="t" lIns="54864" rIns="54864" tIns="54864" bIns="54864">
            <a:spAutoFit/>
          </a:bodyPr>
          <a:lstStyle/>
          <a:p>
            <a:pPr algn="ctr">
              <a:spcAft>
                <a:spcPts val="300"/>
              </a:spcAft>
            </a:pPr>
            <a:r>
              <a:rPr sz="1400" b="1">
                <a:solidFill>
                  <a:srgbClr val="10B981"/>
                </a:solidFill>
                <a:latin typeface="Arial"/>
              </a:rPr>
              <a:t>SCAN TO START</a:t>
            </a:r>
          </a:p>
        </p:txBody>
      </p:sp>
      <p:sp>
        <p:nvSpPr>
          <p:cNvPr id="9" name="Rectangle 8"/>
          <p:cNvSpPr/>
          <p:nvPr/>
        </p:nvSpPr>
        <p:spPr>
          <a:xfrm>
            <a:off x="3675887" y="178308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75887" y="1783080"/>
            <a:ext cx="64008"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86200" y="1892807"/>
            <a:ext cx="1828800" cy="347472"/>
          </a:xfrm>
          <a:prstGeom prst="rect">
            <a:avLst/>
          </a:prstGeom>
          <a:noFill/>
        </p:spPr>
        <p:txBody>
          <a:bodyPr wrap="square" anchor="t" lIns="54864" rIns="54864" tIns="54864" bIns="54864">
            <a:spAutoFit/>
          </a:bodyPr>
          <a:lstStyle/>
          <a:p>
            <a:pPr algn="l">
              <a:spcAft>
                <a:spcPts val="300"/>
              </a:spcAft>
            </a:pPr>
            <a:r>
              <a:rPr sz="1800" b="1">
                <a:solidFill>
                  <a:srgbClr val="1F6FEB"/>
                </a:solidFill>
                <a:latin typeface="Arial"/>
              </a:rPr>
              <a:t>3 × 65</a:t>
            </a:r>
          </a:p>
        </p:txBody>
      </p:sp>
      <p:sp>
        <p:nvSpPr>
          <p:cNvPr id="12" name="TextBox 11"/>
          <p:cNvSpPr txBox="1"/>
          <p:nvPr/>
        </p:nvSpPr>
        <p:spPr>
          <a:xfrm>
            <a:off x="3886200" y="228600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questions</a:t>
            </a:r>
          </a:p>
        </p:txBody>
      </p:sp>
      <p:sp>
        <p:nvSpPr>
          <p:cNvPr id="13" name="Rectangle 12"/>
          <p:cNvSpPr/>
          <p:nvPr/>
        </p:nvSpPr>
        <p:spPr>
          <a:xfrm>
            <a:off x="6190488" y="178308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0488" y="1783080"/>
            <a:ext cx="64008" cy="9326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892807"/>
            <a:ext cx="1828800" cy="347472"/>
          </a:xfrm>
          <a:prstGeom prst="rect">
            <a:avLst/>
          </a:prstGeom>
          <a:noFill/>
        </p:spPr>
        <p:txBody>
          <a:bodyPr wrap="square" anchor="t" lIns="54864" rIns="54864" tIns="54864" bIns="54864">
            <a:spAutoFit/>
          </a:bodyPr>
          <a:lstStyle/>
          <a:p>
            <a:pPr algn="l">
              <a:spcAft>
                <a:spcPts val="300"/>
              </a:spcAft>
            </a:pPr>
            <a:r>
              <a:rPr sz="1800" b="1">
                <a:solidFill>
                  <a:srgbClr val="10B981"/>
                </a:solidFill>
                <a:latin typeface="Arial"/>
              </a:rPr>
              <a:t>60 min</a:t>
            </a:r>
          </a:p>
        </p:txBody>
      </p:sp>
      <p:sp>
        <p:nvSpPr>
          <p:cNvPr id="16" name="TextBox 15"/>
          <p:cNvSpPr txBox="1"/>
          <p:nvPr/>
        </p:nvSpPr>
        <p:spPr>
          <a:xfrm>
            <a:off x="6400800" y="228600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per set</a:t>
            </a:r>
          </a:p>
        </p:txBody>
      </p:sp>
      <p:sp>
        <p:nvSpPr>
          <p:cNvPr id="17" name="Rectangle 16"/>
          <p:cNvSpPr/>
          <p:nvPr/>
        </p:nvSpPr>
        <p:spPr>
          <a:xfrm>
            <a:off x="8705088" y="178308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705088" y="1783080"/>
            <a:ext cx="64008" cy="9326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15400" y="1892807"/>
            <a:ext cx="1828800" cy="347472"/>
          </a:xfrm>
          <a:prstGeom prst="rect">
            <a:avLst/>
          </a:prstGeom>
          <a:noFill/>
        </p:spPr>
        <p:txBody>
          <a:bodyPr wrap="square" anchor="t" lIns="54864" rIns="54864" tIns="54864" bIns="54864">
            <a:spAutoFit/>
          </a:bodyPr>
          <a:lstStyle/>
          <a:p>
            <a:pPr algn="l">
              <a:spcAft>
                <a:spcPts val="300"/>
              </a:spcAft>
            </a:pPr>
            <a:r>
              <a:rPr sz="1800" b="1">
                <a:solidFill>
                  <a:srgbClr val="7C3AED"/>
                </a:solidFill>
                <a:latin typeface="Arial"/>
              </a:rPr>
              <a:t>70%</a:t>
            </a:r>
          </a:p>
        </p:txBody>
      </p:sp>
      <p:sp>
        <p:nvSpPr>
          <p:cNvPr id="20" name="TextBox 19"/>
          <p:cNvSpPr txBox="1"/>
          <p:nvPr/>
        </p:nvSpPr>
        <p:spPr>
          <a:xfrm>
            <a:off x="8915400" y="228600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practice target</a:t>
            </a:r>
          </a:p>
        </p:txBody>
      </p:sp>
      <p:sp>
        <p:nvSpPr>
          <p:cNvPr id="21" name="Rectangle 20"/>
          <p:cNvSpPr/>
          <p:nvPr/>
        </p:nvSpPr>
        <p:spPr>
          <a:xfrm>
            <a:off x="3675887" y="297180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5887" y="2971800"/>
            <a:ext cx="64008" cy="9326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86200" y="3081528"/>
            <a:ext cx="1828800" cy="347472"/>
          </a:xfrm>
          <a:prstGeom prst="rect">
            <a:avLst/>
          </a:prstGeom>
          <a:noFill/>
        </p:spPr>
        <p:txBody>
          <a:bodyPr wrap="square" anchor="t" lIns="54864" rIns="54864" tIns="54864" bIns="54864">
            <a:spAutoFit/>
          </a:bodyPr>
          <a:lstStyle/>
          <a:p>
            <a:pPr algn="l">
              <a:spcAft>
                <a:spcPts val="300"/>
              </a:spcAft>
            </a:pPr>
            <a:r>
              <a:rPr sz="1800" b="1">
                <a:solidFill>
                  <a:srgbClr val="F59E0B"/>
                </a:solidFill>
                <a:latin typeface="Arial"/>
              </a:rPr>
              <a:t>USD 20</a:t>
            </a:r>
          </a:p>
        </p:txBody>
      </p:sp>
      <p:sp>
        <p:nvSpPr>
          <p:cNvPr id="24" name="TextBox 23"/>
          <p:cNvSpPr txBox="1"/>
          <p:nvPr/>
        </p:nvSpPr>
        <p:spPr>
          <a:xfrm>
            <a:off x="3886200" y="347472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practice tier</a:t>
            </a:r>
          </a:p>
        </p:txBody>
      </p:sp>
      <p:sp>
        <p:nvSpPr>
          <p:cNvPr id="25" name="Rectangle 24"/>
          <p:cNvSpPr/>
          <p:nvPr/>
        </p:nvSpPr>
        <p:spPr>
          <a:xfrm>
            <a:off x="6190488" y="2971800"/>
            <a:ext cx="2221992" cy="9326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90488" y="2971800"/>
            <a:ext cx="64008" cy="9326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081528"/>
            <a:ext cx="1828800" cy="347472"/>
          </a:xfrm>
          <a:prstGeom prst="rect">
            <a:avLst/>
          </a:prstGeom>
          <a:noFill/>
        </p:spPr>
        <p:txBody>
          <a:bodyPr wrap="square" anchor="t" lIns="54864" rIns="54864" tIns="54864" bIns="54864">
            <a:spAutoFit/>
          </a:bodyPr>
          <a:lstStyle/>
          <a:p>
            <a:pPr algn="l">
              <a:spcAft>
                <a:spcPts val="300"/>
              </a:spcAft>
            </a:pPr>
            <a:r>
              <a:rPr sz="1800" b="1">
                <a:solidFill>
                  <a:srgbClr val="1F6FEB"/>
                </a:solidFill>
                <a:latin typeface="Arial"/>
              </a:rPr>
              <a:t>USD 100</a:t>
            </a:r>
          </a:p>
        </p:txBody>
      </p:sp>
      <p:sp>
        <p:nvSpPr>
          <p:cNvPr id="28" name="TextBox 27"/>
          <p:cNvSpPr txBox="1"/>
          <p:nvPr/>
        </p:nvSpPr>
        <p:spPr>
          <a:xfrm>
            <a:off x="6400800" y="3474720"/>
            <a:ext cx="1828800" cy="228600"/>
          </a:xfrm>
          <a:prstGeom prst="rect">
            <a:avLst/>
          </a:prstGeom>
          <a:noFill/>
        </p:spPr>
        <p:txBody>
          <a:bodyPr wrap="square" anchor="t" lIns="54864" rIns="54864" tIns="54864" bIns="54864">
            <a:spAutoFit/>
          </a:bodyPr>
          <a:lstStyle/>
          <a:p>
            <a:pPr algn="l">
              <a:spcAft>
                <a:spcPts val="300"/>
              </a:spcAft>
            </a:pPr>
            <a:r>
              <a:rPr sz="1050" b="0">
                <a:solidFill>
                  <a:srgbClr val="5B6372"/>
                </a:solidFill>
                <a:latin typeface="Arial"/>
              </a:rPr>
              <a:t>voucher tier</a:t>
            </a:r>
          </a:p>
        </p:txBody>
      </p:sp>
      <p:sp>
        <p:nvSpPr>
          <p:cNvPr id="29" name="TextBox 28"/>
          <p:cNvSpPr txBox="1"/>
          <p:nvPr/>
        </p:nvSpPr>
        <p:spPr>
          <a:xfrm>
            <a:off x="3694176" y="4315968"/>
            <a:ext cx="7360920" cy="347472"/>
          </a:xfrm>
          <a:prstGeom prst="rect">
            <a:avLst/>
          </a:prstGeom>
          <a:noFill/>
        </p:spPr>
        <p:txBody>
          <a:bodyPr wrap="square" anchor="t" lIns="54864" rIns="54864" tIns="54864" bIns="54864">
            <a:spAutoFit/>
          </a:bodyPr>
          <a:lstStyle/>
          <a:p>
            <a:pPr algn="l">
              <a:spcAft>
                <a:spcPts val="300"/>
              </a:spcAft>
            </a:pPr>
            <a:r>
              <a:rPr sz="1200" b="1">
                <a:solidFill>
                  <a:srgbClr val="161B26"/>
                </a:solidFill>
                <a:latin typeface="Arial"/>
              </a:rPr>
              <a:t>Practice bundle domain mix</a:t>
            </a:r>
          </a:p>
        </p:txBody>
      </p:sp>
      <p:sp>
        <p:nvSpPr>
          <p:cNvPr id="30" name="TextBox 29"/>
          <p:cNvSpPr txBox="1"/>
          <p:nvPr/>
        </p:nvSpPr>
        <p:spPr>
          <a:xfrm>
            <a:off x="3694176" y="4700016"/>
            <a:ext cx="7360920" cy="694944"/>
          </a:xfrm>
          <a:prstGeom prst="rect">
            <a:avLst/>
          </a:prstGeom>
          <a:noFill/>
        </p:spPr>
        <p:txBody>
          <a:bodyPr wrap="square" anchor="ctr" lIns="54864" rIns="54864" tIns="54864" bIns="54864">
            <a:spAutoFit/>
          </a:bodyPr>
          <a:lstStyle/>
          <a:p>
            <a:pPr algn="l">
              <a:spcAft>
                <a:spcPts val="300"/>
              </a:spcAft>
            </a:pPr>
            <a:r>
              <a:rPr sz="1150" b="0">
                <a:solidFill>
                  <a:srgbClr val="5B6372"/>
                </a:solidFill>
                <a:latin typeface="Arial"/>
              </a:rPr>
              <a:t>25% Connect &amp; Prepare  ·  35% Explore &amp; Analyse  ·  20% Share Insights  ·  20% Concepts</a:t>
            </a:r>
          </a:p>
        </p:txBody>
      </p:sp>
      <p:sp>
        <p:nvSpPr>
          <p:cNvPr id="31" name="TextBox 30"/>
          <p:cNvSpPr txBox="1"/>
          <p:nvPr/>
        </p:nvSpPr>
        <p:spPr>
          <a:xfrm>
            <a:off x="731520" y="5650992"/>
            <a:ext cx="10744200" cy="438912"/>
          </a:xfrm>
          <a:prstGeom prst="rect">
            <a:avLst/>
          </a:prstGeom>
          <a:noFill/>
        </p:spPr>
        <p:txBody>
          <a:bodyPr wrap="square" anchor="t" lIns="54864" rIns="54864" tIns="54864" bIns="54864">
            <a:spAutoFit/>
          </a:bodyPr>
          <a:lstStyle/>
          <a:p>
            <a:pPr algn="ctr">
              <a:spcAft>
                <a:spcPts val="300"/>
              </a:spcAft>
            </a:pPr>
            <a:r>
              <a:rPr sz="1150" b="1">
                <a:solidFill>
                  <a:srgbClr val="1F6FEB"/>
                </a:solidFill>
                <a:latin typeface="Arial"/>
                <a:hlinkClick r:id="rId3"/>
              </a:rPr>
              <a:t>https://exams.tertiaryinfotech.com/practice-exams/tableau/tableau-desktop-specialist</a:t>
            </a:r>
          </a:p>
        </p:txBody>
      </p:sp>
      <p:sp>
        <p:nvSpPr>
          <p:cNvPr id="32" name="TextBox 31"/>
          <p:cNvSpPr txBox="1"/>
          <p:nvPr/>
        </p:nvSpPr>
        <p:spPr>
          <a:xfrm>
            <a:off x="320040" y="6473952"/>
            <a:ext cx="4160520" cy="228600"/>
          </a:xfrm>
          <a:prstGeom prst="rect">
            <a:avLst/>
          </a:prstGeom>
          <a:noFill/>
        </p:spPr>
        <p:txBody>
          <a:bodyPr wrap="square" anchor="t" lIns="54864" rIns="54864" tIns="54864" bIns="54864">
            <a:spAutoFit/>
          </a:bodyPr>
          <a:lstStyle/>
          <a:p>
            <a:pPr algn="l">
              <a:spcAft>
                <a:spcPts val="300"/>
              </a:spcAft>
            </a:pPr>
            <a:r>
              <a:rPr sz="750" b="0">
                <a:solidFill>
                  <a:srgbClr val="5B6372"/>
                </a:solidFill>
                <a:latin typeface="Arial"/>
              </a:rPr>
              <a:t>Tableau Data Prep Masterclass · C181</a:t>
            </a:r>
          </a:p>
        </p:txBody>
      </p:sp>
      <p:sp>
        <p:nvSpPr>
          <p:cNvPr id="33" name="TextBox 32"/>
          <p:cNvSpPr txBox="1"/>
          <p:nvPr/>
        </p:nvSpPr>
        <p:spPr>
          <a:xfrm>
            <a:off x="4572000" y="6473952"/>
            <a:ext cx="3108960" cy="228600"/>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Tertiary Infotech Academy Pte Ltd</a:t>
            </a:r>
          </a:p>
        </p:txBody>
      </p:sp>
      <p:sp>
        <p:nvSpPr>
          <p:cNvPr id="34" name="TextBox 33"/>
          <p:cNvSpPr txBox="1"/>
          <p:nvPr/>
        </p:nvSpPr>
        <p:spPr>
          <a:xfrm>
            <a:off x="11384280" y="6473952"/>
            <a:ext cx="457200" cy="228600"/>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153</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